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3.xml" ContentType="application/vnd.openxmlformats-officedocument.presentationml.slide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s/slide12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s/slide15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9" Type="http://schemas.openxmlformats.org/officeDocument/2006/relationships/slide" Target="slides/slide9.xml" /><Relationship Id="rId7" Type="http://schemas.openxmlformats.org/officeDocument/2006/relationships/slide" Target="slides/slide7.xml" /><Relationship Id="rId1" Type="http://schemas.openxmlformats.org/officeDocument/2006/relationships/slide" Target="slides/slide1.xml" /><Relationship Id="rId3" Type="http://schemas.openxmlformats.org/officeDocument/2006/relationships/slide" Target="slides/slide3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5" Type="http://schemas.openxmlformats.org/officeDocument/2006/relationships/slide" Target="slides/slide15.xml" /><Relationship Id="rId2" Type="http://schemas.openxmlformats.org/officeDocument/2006/relationships/slide" Target="slides/slide2.xml" 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4" Type="http://schemas.openxmlformats.org/officeDocument/2006/relationships/slide" Target="slides/slide14.xml" /><Relationship Id="rId18" Type="http://schemas.openxmlformats.org/officeDocument/2006/relationships/viewProps" Target="viewProp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0" Type="http://schemas.openxmlformats.org/officeDocument/2006/relationships/slideLayout" Target="../slideLayouts/slideLayout1.xml" /><Relationship Id="rId2" Type="http://schemas.openxmlformats.org/officeDocument/2006/relationships/slideLayout" Target="../slideLayouts/slideLayout3.xml" /><Relationship Id="rId8" Type="http://schemas.openxmlformats.org/officeDocument/2006/relationships/slideLayout" Target="../slideLayouts/slideLayout9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7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7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7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7.png" /><Relationship Id="rId0" Type="http://schemas.openxmlformats.org/officeDocument/2006/relationships/slideLayout" Target="../slideLayouts/slideLayout7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7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7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7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239000" y="0"/>
            <a:ext cx="4953000" cy="4953000"/>
          </a:xfrm>
          <a:prstGeom prst="round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4" name="TextBox 3"/>
          <p:cNvSpPr txBox="true"/>
          <p:nvPr/>
        </p:nvSpPr>
        <p:spPr>
          <a:xfrm>
            <a:off x="685800" y="1676400"/>
            <a:ext cx="381000" cy="38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695450"/>
            <a:ext cx="342900" cy="3810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6" name="TextBox 5"/>
          <p:cNvSpPr txBox="true"/>
          <p:nvPr/>
        </p:nvSpPr>
        <p:spPr>
          <a:xfrm>
            <a:off x="1162050" y="1581150"/>
            <a:ext cx="2857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true">
                <a:solidFill>
                  <a:srgbClr val="2F6FB0"/>
                </a:solidFill>
                <a:latin typeface="微软雅黑"/>
                <a:ea typeface="微软雅黑"/>
              </a:rPr>
              <a:t>源码导读 · 通俗版</a:t>
            </a:r>
            <a:endParaRPr/>
          </a:p>
        </p:txBody>
      </p:sp>
      <p:sp>
        <p:nvSpPr>
          <p:cNvPr id="7" name="TextBox 6"/>
          <p:cNvSpPr txBox="true"/>
          <p:nvPr/>
        </p:nvSpPr>
        <p:spPr>
          <a:xfrm>
            <a:off x="685800" y="2057400"/>
            <a:ext cx="5334000" cy="1619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true">
                <a:solidFill>
                  <a:srgbClr val="1E3A5F"/>
                </a:solidFill>
                <a:latin typeface="微软雅黑"/>
                <a:ea typeface="微软雅黑"/>
              </a:rPr>
              <a:t>LangGraph</a:t>
            </a:r>
            <a:endParaRPr/>
          </a:p>
          <a:p>
            <a:pPr algn="l">
              <a:lnSpc>
                <a:spcPct val="115000"/>
              </a:lnSpc>
            </a:pPr>
            <a:r>
              <a:rPr sz="5200" b="true">
                <a:solidFill>
                  <a:srgbClr val="1E3A5F"/>
                </a:solidFill>
                <a:latin typeface="微软雅黑"/>
                <a:ea typeface="微软雅黑"/>
              </a:rPr>
              <a:t>到底是个啥</a:t>
            </a:r>
            <a:endParaRPr/>
          </a:p>
        </p:txBody>
      </p:sp>
      <p:sp>
        <p:nvSpPr>
          <p:cNvPr id="8" name="TextBox 7"/>
          <p:cNvSpPr txBox="true"/>
          <p:nvPr/>
        </p:nvSpPr>
        <p:spPr>
          <a:xfrm>
            <a:off x="685800" y="3829050"/>
            <a:ext cx="49530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false">
                <a:solidFill>
                  <a:srgbClr val="1F2733"/>
                </a:solidFill>
                <a:latin typeface="微软雅黑"/>
                <a:ea typeface="微软雅黑"/>
              </a:rPr>
              <a:t>不用读源码。用 5 个比喻 + 1 张图，</a:t>
            </a:r>
            <a:endParaRPr/>
          </a:p>
          <a:p>
            <a:pPr algn="l">
              <a:lnSpc>
                <a:spcPct val="150000"/>
              </a:lnSpc>
            </a:pPr>
            <a:r>
              <a:rPr sz="1900" b="false">
                <a:solidFill>
                  <a:srgbClr val="1F2733"/>
                </a:solidFill>
                <a:latin typeface="微软雅黑"/>
                <a:ea typeface="微软雅黑"/>
              </a:rPr>
              <a:t>把它的内核讲清楚。</a:t>
            </a:r>
            <a:endParaRPr/>
          </a:p>
        </p:txBody>
      </p:sp>
      <p:sp>
        <p:nvSpPr>
          <p:cNvPr id="9" name="Oval 8"/>
          <p:cNvSpPr/>
          <p:nvPr/>
        </p:nvSpPr>
        <p:spPr>
          <a:xfrm>
            <a:off x="723900" y="4819650"/>
            <a:ext cx="76200" cy="76200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0" name="TextBox 9"/>
          <p:cNvSpPr txBox="true"/>
          <p:nvPr/>
        </p:nvSpPr>
        <p:spPr>
          <a:xfrm>
            <a:off x="914400" y="4724400"/>
            <a:ext cx="4000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false">
                <a:solidFill>
                  <a:srgbClr val="667487"/>
                </a:solidFill>
                <a:latin typeface="微软雅黑"/>
                <a:ea typeface="微软雅黑"/>
              </a:rPr>
              <a:t>核心代码 691 行 · 16 个测试全部通过</a:t>
            </a:r>
            <a:endParaRPr/>
          </a:p>
        </p:txBody>
      </p:sp>
      <p:pic>
        <p:nvPicPr>
          <p:cNvPr id="11" name="Picture 10" descr="cover_map_flat.pn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6572250" y="1600200"/>
            <a:ext cx="4762500" cy="40298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83" name="TextBox 2"/>
          <p:cNvSpPr txBox="true"/>
          <p:nvPr/>
        </p:nvSpPr>
        <p:spPr>
          <a:xfrm>
            <a:off x="685800" y="2381250"/>
            <a:ext cx="2857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true">
                <a:solidFill>
                  <a:srgbClr val="1E3A5F"/>
                </a:solidFill>
                <a:latin typeface="微软雅黑"/>
                <a:ea typeface="微软雅黑"/>
              </a:rPr>
              <a:t>目录</a:t>
            </a:r>
            <a:endParaRPr/>
          </a:p>
        </p:txBody>
      </p:sp>
      <p:sp>
        <p:nvSpPr>
          <p:cNvPr id="84" name="Rectangle 3"/>
          <p:cNvSpPr/>
          <p:nvPr/>
        </p:nvSpPr>
        <p:spPr>
          <a:xfrm>
            <a:off x="685800" y="3028950"/>
            <a:ext cx="381000" cy="3810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85" name="TextBox 4"/>
          <p:cNvSpPr txBox="true"/>
          <p:nvPr/>
        </p:nvSpPr>
        <p:spPr>
          <a:xfrm>
            <a:off x="685800" y="3276600"/>
            <a:ext cx="24765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false">
                <a:solidFill>
                  <a:srgbClr val="667487"/>
                </a:solidFill>
                <a:latin typeface="微软雅黑"/>
                <a:ea typeface="微软雅黑"/>
              </a:rPr>
              <a:t>四个问题，正好是理解</a:t>
            </a:r>
            <a:endParaRPr/>
          </a:p>
          <a:p>
            <a:pPr algn="l">
              <a:lnSpc>
                <a:spcPct val="150000"/>
              </a:lnSpc>
            </a:pPr>
            <a:r>
              <a:rPr sz="1700" b="false">
                <a:solidFill>
                  <a:srgbClr val="667487"/>
                </a:solidFill>
                <a:latin typeface="微软雅黑"/>
                <a:ea typeface="微软雅黑"/>
              </a:rPr>
              <a:t>LangGraph 的四层台阶。</a:t>
            </a:r>
            <a:endParaRPr/>
          </a:p>
        </p:txBody>
      </p:sp>
      <p:sp>
        <p:nvSpPr>
          <p:cNvPr id="86" name="Rectangle 5"/>
          <p:cNvSpPr/>
          <p:nvPr/>
        </p:nvSpPr>
        <p:spPr>
          <a:xfrm>
            <a:off x="3810000" y="895350"/>
            <a:ext cx="7696200" cy="10287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87" name="TextBox 6"/>
          <p:cNvSpPr txBox="true"/>
          <p:nvPr/>
        </p:nvSpPr>
        <p:spPr>
          <a:xfrm>
            <a:off x="4038600" y="1085850"/>
            <a:ext cx="666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true">
                <a:solidFill>
                  <a:srgbClr val="2F6FB0"/>
                </a:solidFill>
                <a:latin typeface="微软雅黑"/>
                <a:ea typeface="微软雅黑"/>
              </a:rPr>
              <a:t>01</a:t>
            </a:r>
            <a:endParaRPr/>
          </a:p>
        </p:txBody>
      </p:sp>
      <p:sp>
        <p:nvSpPr>
          <p:cNvPr id="88" name="TextBox 7"/>
          <p:cNvSpPr txBox="true"/>
          <p:nvPr/>
        </p:nvSpPr>
        <p:spPr>
          <a:xfrm>
            <a:off x="4800600" y="1028700"/>
            <a:ext cx="62865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true">
                <a:solidFill>
                  <a:srgbClr val="1F2733"/>
                </a:solidFill>
                <a:latin typeface="微软雅黑"/>
                <a:ea typeface="微软雅黑"/>
              </a:rPr>
              <a:t>它是什么？</a:t>
            </a:r>
            <a:endParaRPr/>
          </a:p>
        </p:txBody>
      </p:sp>
      <p:sp>
        <p:nvSpPr>
          <p:cNvPr id="89" name="TextBox 8"/>
          <p:cNvSpPr txBox="true"/>
          <p:nvPr/>
        </p:nvSpPr>
        <p:spPr>
          <a:xfrm>
            <a:off x="4800600" y="1428750"/>
            <a:ext cx="6286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false">
                <a:solidFill>
                  <a:srgbClr val="667487"/>
                </a:solidFill>
                <a:latin typeface="微软雅黑"/>
                <a:ea typeface="微软雅黑"/>
              </a:rPr>
              <a:t>一句话：一本带记账本的状态机</a:t>
            </a:r>
            <a:endParaRPr/>
          </a:p>
        </p:txBody>
      </p:sp>
      <p:sp>
        <p:nvSpPr>
          <p:cNvPr id="90" name="TextBox 9"/>
          <p:cNvSpPr txBox="true"/>
          <p:nvPr/>
        </p:nvSpPr>
        <p:spPr>
          <a:xfrm>
            <a:off x="4038600" y="2305050"/>
            <a:ext cx="666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true">
                <a:solidFill>
                  <a:srgbClr val="2F6FB0"/>
                </a:solidFill>
                <a:latin typeface="微软雅黑"/>
                <a:ea typeface="微软雅黑"/>
              </a:rPr>
              <a:t>02</a:t>
            </a:r>
            <a:endParaRPr/>
          </a:p>
        </p:txBody>
      </p:sp>
      <p:sp>
        <p:nvSpPr>
          <p:cNvPr id="91" name="TextBox 10"/>
          <p:cNvSpPr txBox="true"/>
          <p:nvPr/>
        </p:nvSpPr>
        <p:spPr>
          <a:xfrm>
            <a:off x="4800600" y="2247900"/>
            <a:ext cx="62865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true">
                <a:solidFill>
                  <a:srgbClr val="1F2733"/>
                </a:solidFill>
                <a:latin typeface="微软雅黑"/>
                <a:ea typeface="微软雅黑"/>
              </a:rPr>
              <a:t>五条心法</a:t>
            </a:r>
            <a:endParaRPr/>
          </a:p>
        </p:txBody>
      </p:sp>
      <p:sp>
        <p:nvSpPr>
          <p:cNvPr id="92" name="TextBox 11"/>
          <p:cNvSpPr txBox="true"/>
          <p:nvPr/>
        </p:nvSpPr>
        <p:spPr>
          <a:xfrm>
            <a:off x="4800600" y="2647950"/>
            <a:ext cx="6286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false">
                <a:solidFill>
                  <a:srgbClr val="667487"/>
                </a:solidFill>
                <a:latin typeface="微软雅黑"/>
                <a:ea typeface="微软雅黑"/>
              </a:rPr>
              <a:t>交账单 / 流水线 / 路由 / 派活 / 存档</a:t>
            </a:r>
            <a:endParaRPr/>
          </a:p>
        </p:txBody>
      </p:sp>
      <p:sp>
        <p:nvSpPr>
          <p:cNvPr id="93" name="Rectangle 12"/>
          <p:cNvSpPr/>
          <p:nvPr/>
        </p:nvSpPr>
        <p:spPr>
          <a:xfrm>
            <a:off x="3810000" y="3333750"/>
            <a:ext cx="7696200" cy="10287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94" name="TextBox 13"/>
          <p:cNvSpPr txBox="true"/>
          <p:nvPr/>
        </p:nvSpPr>
        <p:spPr>
          <a:xfrm>
            <a:off x="4038600" y="3524250"/>
            <a:ext cx="666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true">
                <a:solidFill>
                  <a:srgbClr val="2F6FB0"/>
                </a:solidFill>
                <a:latin typeface="微软雅黑"/>
                <a:ea typeface="微软雅黑"/>
              </a:rPr>
              <a:t>03</a:t>
            </a:r>
            <a:endParaRPr/>
          </a:p>
        </p:txBody>
      </p:sp>
      <p:sp>
        <p:nvSpPr>
          <p:cNvPr id="95" name="TextBox 14"/>
          <p:cNvSpPr txBox="true"/>
          <p:nvPr/>
        </p:nvSpPr>
        <p:spPr>
          <a:xfrm>
            <a:off x="4800600" y="3467100"/>
            <a:ext cx="62865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true">
                <a:solidFill>
                  <a:srgbClr val="1F2733"/>
                </a:solidFill>
                <a:latin typeface="微软雅黑"/>
                <a:ea typeface="微软雅黑"/>
              </a:rPr>
              <a:t>一个坑</a:t>
            </a:r>
            <a:endParaRPr/>
          </a:p>
        </p:txBody>
      </p:sp>
      <p:sp>
        <p:nvSpPr>
          <p:cNvPr id="96" name="TextBox 15"/>
          <p:cNvSpPr txBox="true"/>
          <p:nvPr/>
        </p:nvSpPr>
        <p:spPr>
          <a:xfrm>
            <a:off x="4800600" y="3867150"/>
            <a:ext cx="6286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false">
                <a:solidFill>
                  <a:srgbClr val="667487"/>
                </a:solidFill>
                <a:latin typeface="微软雅黑"/>
                <a:ea typeface="微软雅黑"/>
              </a:rPr>
              <a:t>暂停为什么会让整轮作废</a:t>
            </a:r>
            <a:endParaRPr/>
          </a:p>
        </p:txBody>
      </p:sp>
      <p:sp>
        <p:nvSpPr>
          <p:cNvPr id="97" name="TextBox 16"/>
          <p:cNvSpPr txBox="true"/>
          <p:nvPr/>
        </p:nvSpPr>
        <p:spPr>
          <a:xfrm>
            <a:off x="4038600" y="4743450"/>
            <a:ext cx="666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true">
                <a:solidFill>
                  <a:srgbClr val="2F6FB0"/>
                </a:solidFill>
                <a:latin typeface="微软雅黑"/>
                <a:ea typeface="微软雅黑"/>
              </a:rPr>
              <a:t>04</a:t>
            </a:r>
            <a:endParaRPr/>
          </a:p>
        </p:txBody>
      </p:sp>
      <p:sp>
        <p:nvSpPr>
          <p:cNvPr id="98" name="TextBox 17"/>
          <p:cNvSpPr txBox="true"/>
          <p:nvPr/>
        </p:nvSpPr>
        <p:spPr>
          <a:xfrm>
            <a:off x="4800600" y="4686300"/>
            <a:ext cx="62865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true">
                <a:solidFill>
                  <a:srgbClr val="1F2733"/>
                </a:solidFill>
                <a:latin typeface="微软雅黑"/>
                <a:ea typeface="微软雅黑"/>
              </a:rPr>
              <a:t>记住什么</a:t>
            </a:r>
            <a:endParaRPr/>
          </a:p>
        </p:txBody>
      </p:sp>
      <p:sp>
        <p:nvSpPr>
          <p:cNvPr id="99" name="TextBox 18"/>
          <p:cNvSpPr txBox="true"/>
          <p:nvPr/>
        </p:nvSpPr>
        <p:spPr>
          <a:xfrm>
            <a:off x="4800600" y="5086350"/>
            <a:ext cx="6286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false">
                <a:solidFill>
                  <a:srgbClr val="667487"/>
                </a:solidFill>
                <a:latin typeface="微软雅黑"/>
                <a:ea typeface="微软雅黑"/>
              </a:rPr>
              <a:t>一张全景图 + 五句话</a:t>
            </a:r>
            <a:endParaRPr/>
          </a:p>
        </p:txBody>
      </p:sp>
      <p:sp>
        <p:nvSpPr>
          <p:cNvPr id="100" name="TextBox 19"/>
          <p:cNvSpPr txBox="true"/>
          <p:nvPr/>
        </p:nvSpPr>
        <p:spPr>
          <a:xfrm>
            <a:off x="11334750" y="65151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false">
                <a:solidFill>
                  <a:srgbClr val="667487"/>
                </a:solidFill>
                <a:latin typeface="微软雅黑"/>
                <a:ea typeface="微软雅黑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03" name="TextBox 2"/>
          <p:cNvSpPr txBox="true"/>
          <p:nvPr/>
        </p:nvSpPr>
        <p:spPr>
          <a:xfrm>
            <a:off x="685800" y="1905000"/>
            <a:ext cx="2857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true">
                <a:solidFill>
                  <a:srgbClr val="8FACCE"/>
                </a:solidFill>
                <a:latin typeface="微软雅黑"/>
                <a:ea typeface="微软雅黑"/>
              </a:rPr>
              <a:t>01</a:t>
            </a:r>
            <a:endParaRPr/>
          </a:p>
        </p:txBody>
      </p:sp>
      <p:sp>
        <p:nvSpPr>
          <p:cNvPr id="104" name="TextBox 3"/>
          <p:cNvSpPr txBox="true"/>
          <p:nvPr/>
        </p:nvSpPr>
        <p:spPr>
          <a:xfrm>
            <a:off x="685800" y="2381250"/>
            <a:ext cx="85725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4800" b="true">
                <a:solidFill>
                  <a:srgbClr val="FFFFFF"/>
                </a:solidFill>
                <a:latin typeface="微软雅黑"/>
                <a:ea typeface="微软雅黑"/>
              </a:rPr>
              <a:t>它是什么？</a:t>
            </a:r>
            <a:endParaRPr/>
          </a:p>
        </p:txBody>
      </p:sp>
      <p:sp>
        <p:nvSpPr>
          <p:cNvPr id="105" name="TextBox 4"/>
          <p:cNvSpPr txBox="true"/>
          <p:nvPr/>
        </p:nvSpPr>
        <p:spPr>
          <a:xfrm>
            <a:off x="685800" y="3543300"/>
            <a:ext cx="9525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false">
                <a:solidFill>
                  <a:srgbClr val="D6E4F4"/>
                </a:solidFill>
                <a:latin typeface="微软雅黑"/>
                <a:ea typeface="微软雅黑"/>
              </a:rPr>
              <a:t>一句话：一本带记账本的状态机。</a:t>
            </a:r>
            <a:endParaRPr/>
          </a:p>
        </p:txBody>
      </p:sp>
      <p:sp>
        <p:nvSpPr>
          <p:cNvPr id="106" name="Rectangle 5"/>
          <p:cNvSpPr/>
          <p:nvPr/>
        </p:nvSpPr>
        <p:spPr>
          <a:xfrm>
            <a:off x="685800" y="3429000"/>
            <a:ext cx="533400" cy="3810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07" name="TextBox 6"/>
          <p:cNvSpPr txBox="true"/>
          <p:nvPr/>
        </p:nvSpPr>
        <p:spPr>
          <a:xfrm>
            <a:off x="11334750" y="65151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false">
                <a:solidFill>
                  <a:srgbClr val="667487"/>
                </a:solidFill>
                <a:latin typeface="微软雅黑"/>
                <a:ea typeface="微软雅黑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10" name="TextBox 2"/>
          <p:cNvSpPr txBox="true"/>
          <p:nvPr/>
        </p:nvSpPr>
        <p:spPr>
          <a:xfrm>
            <a:off x="685800" y="381000"/>
            <a:ext cx="5715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true">
                <a:solidFill>
                  <a:srgbClr val="2F6FB0"/>
                </a:solidFill>
                <a:latin typeface="微软雅黑"/>
                <a:ea typeface="微软雅黑"/>
              </a:rPr>
              <a:t>01 —— 它是什么</a:t>
            </a:r>
            <a:endParaRPr/>
          </a:p>
        </p:txBody>
      </p:sp>
      <p:sp>
        <p:nvSpPr>
          <p:cNvPr id="111" name="TextBox 3"/>
          <p:cNvSpPr txBox="true"/>
          <p:nvPr/>
        </p:nvSpPr>
        <p:spPr>
          <a:xfrm>
            <a:off x="685800" y="628650"/>
            <a:ext cx="104775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300" b="true">
                <a:solidFill>
                  <a:srgbClr val="1E3A5F"/>
                </a:solidFill>
                <a:latin typeface="微软雅黑"/>
                <a:ea typeface="微软雅黑"/>
              </a:rPr>
              <a:t>把这句话拆开：状态机 + 记账本</a:t>
            </a:r>
            <a:endParaRPr/>
          </a:p>
        </p:txBody>
      </p:sp>
      <p:sp>
        <p:nvSpPr>
          <p:cNvPr id="112" name="Rectangle 4"/>
          <p:cNvSpPr/>
          <p:nvPr/>
        </p:nvSpPr>
        <p:spPr>
          <a:xfrm>
            <a:off x="685800" y="1200150"/>
            <a:ext cx="10820400" cy="9525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13" name="TextBox 5"/>
          <p:cNvSpPr txBox="true"/>
          <p:nvPr/>
        </p:nvSpPr>
        <p:spPr>
          <a:xfrm>
            <a:off x="685800" y="1485900"/>
            <a:ext cx="1082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false">
                <a:solidFill>
                  <a:srgbClr val="1F2733"/>
                </a:solidFill>
                <a:latin typeface="微软雅黑"/>
                <a:ea typeface="微软雅黑"/>
              </a:rPr>
              <a:t>状态机：你把工作拆成一个个「节点」，画成一张图，LangGraph 按图开车。</a:t>
            </a:r>
            <a:endParaRPr/>
          </a:p>
          <a:p>
            <a:pPr algn="l">
              <a:lnSpc>
                <a:spcPct val="150000"/>
              </a:lnSpc>
            </a:pPr>
            <a:r>
              <a:rPr sz="2000" b="false">
                <a:solidFill>
                  <a:srgbClr val="1F2733"/>
                </a:solidFill>
                <a:latin typeface="微软雅黑"/>
                <a:ea typeface="微软雅黑"/>
              </a:rPr>
              <a:t>记账本：全程只有一份「状态」（可以理解为共享的账本），每个节点读完账本干活，</a:t>
            </a:r>
            <a:endParaRPr/>
          </a:p>
          <a:p>
            <a:pPr algn="l">
              <a:lnSpc>
                <a:spcPct val="150000"/>
              </a:lnSpc>
            </a:pPr>
            <a:r>
              <a:rPr sz="2000" b="false">
                <a:solidFill>
                  <a:srgbClr val="1F2733"/>
                </a:solidFill>
                <a:latin typeface="微软雅黑"/>
                <a:ea typeface="微软雅黑"/>
              </a:rPr>
              <a:t>干完只交一张「账单」（改了哪些数据），由框架记账——谁也不许直接涂改账本。</a:t>
            </a:r>
            <a:endParaRPr/>
          </a:p>
        </p:txBody>
      </p:sp>
      <p:pic>
        <p:nvPicPr>
          <p:cNvPr id="114" name="Picture 6" descr="statemap.pn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809750" y="2857500"/>
            <a:ext cx="8572500" cy="3429000"/>
          </a:xfrm>
          <a:prstGeom prst="rect">
            <a:avLst/>
          </a:prstGeom>
        </p:spPr>
      </p:pic>
      <p:sp>
        <p:nvSpPr>
          <p:cNvPr id="115" name="TextBox 7"/>
          <p:cNvSpPr txBox="true"/>
          <p:nvPr/>
        </p:nvSpPr>
        <p:spPr>
          <a:xfrm>
            <a:off x="11334750" y="65151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false">
                <a:solidFill>
                  <a:srgbClr val="667487"/>
                </a:solidFill>
                <a:latin typeface="微软雅黑"/>
                <a:ea typeface="微软雅黑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18" name="TextBox 2"/>
          <p:cNvSpPr txBox="true"/>
          <p:nvPr/>
        </p:nvSpPr>
        <p:spPr>
          <a:xfrm>
            <a:off x="685800" y="1905000"/>
            <a:ext cx="2857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true">
                <a:solidFill>
                  <a:srgbClr val="8FACCE"/>
                </a:solidFill>
                <a:latin typeface="微软雅黑"/>
                <a:ea typeface="微软雅黑"/>
              </a:rPr>
              <a:t>02</a:t>
            </a:r>
            <a:endParaRPr/>
          </a:p>
        </p:txBody>
      </p:sp>
      <p:sp>
        <p:nvSpPr>
          <p:cNvPr id="119" name="TextBox 3"/>
          <p:cNvSpPr txBox="true"/>
          <p:nvPr/>
        </p:nvSpPr>
        <p:spPr>
          <a:xfrm>
            <a:off x="685800" y="2381250"/>
            <a:ext cx="85725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4800" b="true">
                <a:solidFill>
                  <a:srgbClr val="FFFFFF"/>
                </a:solidFill>
                <a:latin typeface="微软雅黑"/>
                <a:ea typeface="微软雅黑"/>
              </a:rPr>
              <a:t>五条心法</a:t>
            </a:r>
            <a:endParaRPr/>
          </a:p>
        </p:txBody>
      </p:sp>
      <p:sp>
        <p:nvSpPr>
          <p:cNvPr id="120" name="TextBox 4"/>
          <p:cNvSpPr txBox="true"/>
          <p:nvPr/>
        </p:nvSpPr>
        <p:spPr>
          <a:xfrm>
            <a:off x="685800" y="3543300"/>
            <a:ext cx="10477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false">
                <a:solidFill>
                  <a:srgbClr val="D6E4F4"/>
                </a:solidFill>
                <a:latin typeface="微软雅黑"/>
                <a:ea typeface="微软雅黑"/>
              </a:rPr>
              <a:t>交账单 / 流水线 / 路由 / 派活 / 存档——每条对应一个 API 背后的动机。</a:t>
            </a:r>
            <a:endParaRPr/>
          </a:p>
        </p:txBody>
      </p:sp>
      <p:sp>
        <p:nvSpPr>
          <p:cNvPr id="121" name="Rectangle 5"/>
          <p:cNvSpPr/>
          <p:nvPr/>
        </p:nvSpPr>
        <p:spPr>
          <a:xfrm>
            <a:off x="685800" y="3429000"/>
            <a:ext cx="533400" cy="3810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22" name="TextBox 6"/>
          <p:cNvSpPr txBox="true"/>
          <p:nvPr/>
        </p:nvSpPr>
        <p:spPr>
          <a:xfrm>
            <a:off x="11334750" y="65151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false">
                <a:solidFill>
                  <a:srgbClr val="667487"/>
                </a:solidFill>
                <a:latin typeface="微软雅黑"/>
                <a:ea typeface="微软雅黑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25" name="TextBox 2"/>
          <p:cNvSpPr txBox="true"/>
          <p:nvPr/>
        </p:nvSpPr>
        <p:spPr>
          <a:xfrm>
            <a:off x="685800" y="381000"/>
            <a:ext cx="5715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true">
                <a:solidFill>
                  <a:srgbClr val="2F6FB0"/>
                </a:solidFill>
                <a:latin typeface="微软雅黑"/>
                <a:ea typeface="微软雅黑"/>
              </a:rPr>
              <a:t>02 —— 心法一</a:t>
            </a:r>
            <a:endParaRPr/>
          </a:p>
        </p:txBody>
      </p:sp>
      <p:sp>
        <p:nvSpPr>
          <p:cNvPr id="126" name="TextBox 3"/>
          <p:cNvSpPr txBox="true"/>
          <p:nvPr/>
        </p:nvSpPr>
        <p:spPr>
          <a:xfrm>
            <a:off x="685800" y="628650"/>
            <a:ext cx="104775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300" b="true">
                <a:solidFill>
                  <a:srgbClr val="1E3A5F"/>
                </a:solidFill>
                <a:latin typeface="微软雅黑"/>
                <a:ea typeface="微软雅黑"/>
              </a:rPr>
              <a:t>节点不改状态，只交「账单」</a:t>
            </a:r>
            <a:endParaRPr/>
          </a:p>
        </p:txBody>
      </p:sp>
      <p:sp>
        <p:nvSpPr>
          <p:cNvPr id="127" name="Rectangle 4"/>
          <p:cNvSpPr/>
          <p:nvPr/>
        </p:nvSpPr>
        <p:spPr>
          <a:xfrm>
            <a:off x="685800" y="1200150"/>
            <a:ext cx="10820400" cy="9525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28" name="Rectangle 5"/>
          <p:cNvSpPr/>
          <p:nvPr/>
        </p:nvSpPr>
        <p:spPr>
          <a:xfrm>
            <a:off x="685800" y="1485900"/>
            <a:ext cx="4476750" cy="4000500"/>
          </a:xfrm>
          <a:prstGeom prst="rect">
            <a:avLst/>
          </a:prstGeom>
          <a:solidFill>
            <a:srgbClr val="FFFFFF"/>
          </a:solidFill>
          <a:ln w="19050">
            <a:solidFill>
              <a:srgbClr val="B44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29" name="TextBox 6"/>
          <p:cNvSpPr txBox="true"/>
          <p:nvPr/>
        </p:nvSpPr>
        <p:spPr>
          <a:xfrm>
            <a:off x="952500" y="1714500"/>
            <a:ext cx="40005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true">
                <a:solidFill>
                  <a:srgbClr val="B4441F"/>
                </a:solidFill>
                <a:latin typeface="微软雅黑"/>
                <a:ea typeface="微软雅黑"/>
              </a:rPr>
              <a:t>✗ 直接改（多数框架的写法）</a:t>
            </a:r>
            <a:endParaRPr/>
          </a:p>
        </p:txBody>
      </p:sp>
      <p:sp>
        <p:nvSpPr>
          <p:cNvPr id="130" name="TextBox 7"/>
          <p:cNvSpPr txBox="true"/>
          <p:nvPr/>
        </p:nvSpPr>
        <p:spPr>
          <a:xfrm>
            <a:off x="952500" y="2209800"/>
            <a:ext cx="40005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false">
                <a:solidFill>
                  <a:srgbClr val="667487"/>
                </a:solidFill>
                <a:latin typeface="微软雅黑"/>
                <a:ea typeface="微软雅黑"/>
              </a:rPr>
              <a:t>state["total"] = state["total"] + 1</a:t>
            </a:r>
            <a:endParaRPr/>
          </a:p>
          <a:p>
            <a:pPr algn="l">
              <a:lnSpc>
                <a:spcPct val="155000"/>
              </a:lnSpc>
              <a:spcBef>
                <a:spcPts val="1000"/>
              </a:spcBef>
            </a:pPr>
            <a:r>
              <a:rPr sz="1900" b="false">
                <a:solidFill>
                  <a:srgbClr val="1F2733"/>
                </a:solidFill>
                <a:latin typeface="微软雅黑"/>
                <a:ea typeface="微软雅黑"/>
              </a:rPr>
              <a:t>节点自己动手改共享数据。</a:t>
            </a:r>
            <a:endParaRPr/>
          </a:p>
          <a:p>
            <a:pPr algn="l">
              <a:lnSpc>
                <a:spcPct val="155000"/>
              </a:lnSpc>
              <a:spcBef>
                <a:spcPts val="1000"/>
              </a:spcBef>
            </a:pPr>
            <a:r>
              <a:rPr sz="1900" b="false">
                <a:solidFill>
                  <a:srgbClr val="1F2733"/>
                </a:solidFill>
                <a:latin typeface="微软雅黑"/>
                <a:ea typeface="微软雅黑"/>
              </a:rPr>
              <a:t>问题：两个节点同时改，谁先谁后？</a:t>
            </a:r>
            <a:endParaRPr/>
          </a:p>
          <a:p>
            <a:pPr algn="l">
              <a:lnSpc>
                <a:spcPct val="155000"/>
              </a:lnSpc>
            </a:pPr>
            <a:r>
              <a:rPr sz="1900" b="false">
                <a:solidFill>
                  <a:srgbClr val="1F2733"/>
                </a:solidFill>
                <a:latin typeface="微软雅黑"/>
                <a:ea typeface="微软雅黑"/>
              </a:rPr>
              <a:t>改坏了算谁的？框架一无所知。</a:t>
            </a:r>
            <a:endParaRPr/>
          </a:p>
        </p:txBody>
      </p:sp>
      <p:sp>
        <p:nvSpPr>
          <p:cNvPr id="131" name="TextBox 8"/>
          <p:cNvSpPr txBox="true"/>
          <p:nvPr/>
        </p:nvSpPr>
        <p:spPr>
          <a:xfrm>
            <a:off x="952500" y="4762500"/>
            <a:ext cx="4000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false">
                <a:solidFill>
                  <a:srgbClr val="B4441F"/>
                </a:solidFill>
                <a:latin typeface="微软雅黑"/>
                <a:ea typeface="微软雅黑"/>
              </a:rPr>
              <a:t>并行和暂停都做不了 ——</a:t>
            </a:r>
            <a:endParaRPr/>
          </a:p>
          <a:p>
            <a:pPr algn="l">
              <a:lnSpc>
                <a:spcPct val="145000"/>
              </a:lnSpc>
            </a:pPr>
            <a:r>
              <a:rPr sz="1600" b="false">
                <a:solidFill>
                  <a:srgbClr val="B4441F"/>
                </a:solidFill>
                <a:latin typeface="微软雅黑"/>
                <a:ea typeface="微软雅黑"/>
              </a:rPr>
              <a:t>副作用在框架眼皮底下黑箱发生。</a:t>
            </a:r>
            <a:endParaRPr/>
          </a:p>
        </p:txBody>
      </p:sp>
      <p:sp>
        <p:nvSpPr>
          <p:cNvPr id="132" name="Rectangle 9"/>
          <p:cNvSpPr/>
          <p:nvPr/>
        </p:nvSpPr>
        <p:spPr>
          <a:xfrm>
            <a:off x="5467350" y="1485900"/>
            <a:ext cx="6038850" cy="40005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33" name="TextBox 10"/>
          <p:cNvSpPr txBox="true"/>
          <p:nvPr/>
        </p:nvSpPr>
        <p:spPr>
          <a:xfrm>
            <a:off x="5734050" y="1714500"/>
            <a:ext cx="5334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true">
                <a:solidFill>
                  <a:srgbClr val="1E3A5F"/>
                </a:solidFill>
                <a:latin typeface="微软雅黑"/>
                <a:ea typeface="微软雅黑"/>
              </a:rPr>
              <a:t>✓ 交账单（LangGraph 的写法）</a:t>
            </a:r>
            <a:endParaRPr/>
          </a:p>
        </p:txBody>
      </p:sp>
      <p:sp>
        <p:nvSpPr>
          <p:cNvPr id="134" name="TextBox 11"/>
          <p:cNvSpPr txBox="true"/>
          <p:nvPr/>
        </p:nvSpPr>
        <p:spPr>
          <a:xfrm>
            <a:off x="5734050" y="2209800"/>
            <a:ext cx="55245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false">
                <a:solidFill>
                  <a:srgbClr val="667487"/>
                </a:solidFill>
                <a:latin typeface="微软雅黑"/>
                <a:ea typeface="微软雅黑"/>
              </a:rPr>
              <a:t>return {"total": 1}</a:t>
            </a:r>
            <a:endParaRPr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sz="1800" b="false">
                <a:solidFill>
                  <a:srgbClr val="1F2733"/>
                </a:solidFill>
                <a:latin typeface="微软雅黑"/>
                <a:ea typeface="微软雅黑"/>
              </a:rPr>
              <a:t>节点只交「增量账单」：我改了 total，加了 1。</a:t>
            </a:r>
            <a:endParaRPr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sz="1800" b="false">
                <a:solidFill>
                  <a:srgbClr val="1F2733"/>
                </a:solidFill>
                <a:latin typeface="微软雅黑"/>
                <a:ea typeface="微软雅黑"/>
              </a:rPr>
              <a:t>怎么合进账本，由字段绑定的 reducer 说了算：</a:t>
            </a:r>
            <a:endParaRPr/>
          </a:p>
          <a:p>
            <a:pPr algn="l">
              <a:lnSpc>
                <a:spcPct val="150000"/>
              </a:lnSpc>
            </a:pPr>
            <a:r>
              <a:rPr sz="1800" b="true">
                <a:solidFill>
                  <a:srgbClr val="1F2733"/>
                </a:solidFill>
                <a:latin typeface="微软雅黑"/>
                <a:ea typeface="微软雅黑"/>
              </a:rPr>
              <a:t>total → 累加；messages → 追加；其他 → 覆盖。</a:t>
            </a:r>
            <a:endParaRPr/>
          </a:p>
        </p:txBody>
      </p:sp>
      <p:sp>
        <p:nvSpPr>
          <p:cNvPr id="135" name="TextBox 12"/>
          <p:cNvSpPr txBox="true"/>
          <p:nvPr/>
        </p:nvSpPr>
        <p:spPr>
          <a:xfrm>
            <a:off x="5734050" y="4762500"/>
            <a:ext cx="5524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false">
                <a:solidFill>
                  <a:srgbClr val="1E3A5F"/>
                </a:solidFill>
                <a:latin typeface="微软雅黑"/>
                <a:ea typeface="微软雅黑"/>
              </a:rPr>
              <a:t>增量是可合并的，副作用不可合并 ——</a:t>
            </a:r>
            <a:endParaRPr/>
          </a:p>
          <a:p>
            <a:pPr algn="l">
              <a:lnSpc>
                <a:spcPct val="145000"/>
              </a:lnSpc>
            </a:pPr>
            <a:r>
              <a:rPr sz="1600" b="false">
                <a:solidFill>
                  <a:srgbClr val="1E3A5F"/>
                </a:solidFill>
                <a:latin typeface="微软雅黑"/>
                <a:ea typeface="微软雅黑"/>
              </a:rPr>
              <a:t>这是并行执行和断点重跑的共同前提。</a:t>
            </a:r>
            <a:endParaRPr/>
          </a:p>
        </p:txBody>
      </p:sp>
      <p:sp>
        <p:nvSpPr>
          <p:cNvPr id="136" name="TextBox 13"/>
          <p:cNvSpPr txBox="true"/>
          <p:nvPr/>
        </p:nvSpPr>
        <p:spPr>
          <a:xfrm>
            <a:off x="11334750" y="65151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false">
                <a:solidFill>
                  <a:srgbClr val="667487"/>
                </a:solidFill>
                <a:latin typeface="微软雅黑"/>
                <a:ea typeface="微软雅黑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39" name="TextBox 2"/>
          <p:cNvSpPr txBox="true"/>
          <p:nvPr/>
        </p:nvSpPr>
        <p:spPr>
          <a:xfrm>
            <a:off x="685800" y="381000"/>
            <a:ext cx="5715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true">
                <a:solidFill>
                  <a:srgbClr val="2F6FB0"/>
                </a:solidFill>
                <a:latin typeface="微软雅黑"/>
                <a:ea typeface="微软雅黑"/>
              </a:rPr>
              <a:t>02 —— 心法一 · 演示</a:t>
            </a:r>
            <a:endParaRPr/>
          </a:p>
        </p:txBody>
      </p:sp>
      <p:sp>
        <p:nvSpPr>
          <p:cNvPr id="140" name="TextBox 3"/>
          <p:cNvSpPr txBox="true"/>
          <p:nvPr/>
        </p:nvSpPr>
        <p:spPr>
          <a:xfrm>
            <a:off x="685800" y="628650"/>
            <a:ext cx="104775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300" b="true">
                <a:solidFill>
                  <a:srgbClr val="1E3A5F"/>
                </a:solidFill>
                <a:latin typeface="微软雅黑"/>
                <a:ea typeface="微软雅黑"/>
              </a:rPr>
              <a:t>为什么必须交账单：一次会丢钱的实验</a:t>
            </a:r>
            <a:endParaRPr/>
          </a:p>
        </p:txBody>
      </p:sp>
      <p:sp>
        <p:nvSpPr>
          <p:cNvPr id="141" name="Rectangle 4"/>
          <p:cNvSpPr/>
          <p:nvPr/>
        </p:nvSpPr>
        <p:spPr>
          <a:xfrm>
            <a:off x="685800" y="1200150"/>
            <a:ext cx="10820400" cy="9525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pic>
        <p:nvPicPr>
          <p:cNvPr id="142" name="Picture 5" descr="race.pn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00" y="1485900"/>
            <a:ext cx="9525000" cy="4000500"/>
          </a:xfrm>
          <a:prstGeom prst="rect">
            <a:avLst/>
          </a:prstGeom>
        </p:spPr>
      </p:pic>
      <p:sp>
        <p:nvSpPr>
          <p:cNvPr id="143" name="Rectangle 6"/>
          <p:cNvSpPr/>
          <p:nvPr/>
        </p:nvSpPr>
        <p:spPr>
          <a:xfrm>
            <a:off x="685800" y="5448300"/>
            <a:ext cx="10820400" cy="8763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44" name="TextBox 7"/>
          <p:cNvSpPr txBox="true"/>
          <p:nvPr/>
        </p:nvSpPr>
        <p:spPr>
          <a:xfrm>
            <a:off x="952500" y="5619750"/>
            <a:ext cx="10287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false">
                <a:solidFill>
                  <a:srgbClr val="1F2733"/>
                </a:solidFill>
                <a:latin typeface="微软雅黑"/>
                <a:ea typeface="微软雅黑"/>
              </a:rPr>
              <a:t>两条心法预判：① 并行节点写同一字段必须配 reducer，不配直接报错；</a:t>
            </a:r>
            <a:endParaRPr/>
          </a:p>
          <a:p>
            <a:pPr algn="l">
              <a:lnSpc>
                <a:spcPct val="140000"/>
              </a:lnSpc>
            </a:pPr>
            <a:r>
              <a:rPr sz="1600" b="true">
                <a:solidFill>
                  <a:srgbClr val="1E3A5F"/>
                </a:solidFill>
                <a:latin typeface="微软雅黑"/>
                <a:ea typeface="微软雅黑"/>
              </a:rPr>
              <a:t>② 报错不是烦人，是框架在替你拦住一次静默丢钱。</a:t>
            </a:r>
            <a:endParaRPr/>
          </a:p>
        </p:txBody>
      </p:sp>
      <p:sp>
        <p:nvSpPr>
          <p:cNvPr id="145" name="TextBox 8"/>
          <p:cNvSpPr txBox="true"/>
          <p:nvPr/>
        </p:nvSpPr>
        <p:spPr>
          <a:xfrm>
            <a:off x="11334750" y="65151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false">
                <a:solidFill>
                  <a:srgbClr val="667487"/>
                </a:solidFill>
                <a:latin typeface="微软雅黑"/>
                <a:ea typeface="微软雅黑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48" name="TextBox 2"/>
          <p:cNvSpPr txBox="true"/>
          <p:nvPr/>
        </p:nvSpPr>
        <p:spPr>
          <a:xfrm>
            <a:off x="685800" y="381000"/>
            <a:ext cx="5715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true">
                <a:solidFill>
                  <a:srgbClr val="2F6FB0"/>
                </a:solidFill>
                <a:latin typeface="微软雅黑"/>
                <a:ea typeface="微软雅黑"/>
              </a:rPr>
              <a:t>02 —— 心法二</a:t>
            </a:r>
            <a:endParaRPr/>
          </a:p>
        </p:txBody>
      </p:sp>
      <p:sp>
        <p:nvSpPr>
          <p:cNvPr id="149" name="TextBox 3"/>
          <p:cNvSpPr txBox="true"/>
          <p:nvPr/>
        </p:nvSpPr>
        <p:spPr>
          <a:xfrm>
            <a:off x="685800" y="628650"/>
            <a:ext cx="104775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300" b="true">
                <a:solidFill>
                  <a:srgbClr val="1E3A5F"/>
                </a:solidFill>
                <a:latin typeface="微软雅黑"/>
                <a:ea typeface="微软雅黑"/>
              </a:rPr>
              <a:t>一轮一轮走：像流水线，不像 while 循环</a:t>
            </a:r>
            <a:endParaRPr/>
          </a:p>
        </p:txBody>
      </p:sp>
      <p:sp>
        <p:nvSpPr>
          <p:cNvPr id="150" name="Rectangle 4"/>
          <p:cNvSpPr/>
          <p:nvPr/>
        </p:nvSpPr>
        <p:spPr>
          <a:xfrm>
            <a:off x="685800" y="1200150"/>
            <a:ext cx="10820400" cy="9525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pic>
        <p:nvPicPr>
          <p:cNvPr id="151" name="Picture 5" descr="pipeline.pn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1676400"/>
            <a:ext cx="10287000" cy="3429000"/>
          </a:xfrm>
          <a:prstGeom prst="rect">
            <a:avLst/>
          </a:prstGeom>
        </p:spPr>
      </p:pic>
      <p:sp>
        <p:nvSpPr>
          <p:cNvPr id="152" name="TextBox 6"/>
          <p:cNvSpPr txBox="true"/>
          <p:nvPr/>
        </p:nvSpPr>
        <p:spPr>
          <a:xfrm>
            <a:off x="11334750" y="65151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false">
                <a:solidFill>
                  <a:srgbClr val="667487"/>
                </a:solidFill>
                <a:latin typeface="微软雅黑"/>
                <a:ea typeface="微软雅黑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55" name="TextBox 2"/>
          <p:cNvSpPr txBox="true"/>
          <p:nvPr/>
        </p:nvSpPr>
        <p:spPr>
          <a:xfrm>
            <a:off x="685800" y="381000"/>
            <a:ext cx="5715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true">
                <a:solidFill>
                  <a:srgbClr val="2F6FB0"/>
                </a:solidFill>
                <a:latin typeface="微软雅黑"/>
                <a:ea typeface="微软雅黑"/>
              </a:rPr>
              <a:t>02 —— 心法三</a:t>
            </a:r>
            <a:endParaRPr/>
          </a:p>
        </p:txBody>
      </p:sp>
      <p:sp>
        <p:nvSpPr>
          <p:cNvPr id="156" name="TextBox 3"/>
          <p:cNvSpPr txBox="true"/>
          <p:nvPr/>
        </p:nvSpPr>
        <p:spPr>
          <a:xfrm>
            <a:off x="685800" y="628650"/>
            <a:ext cx="104775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300" b="true">
                <a:solidFill>
                  <a:srgbClr val="1E3A5F"/>
                </a:solidFill>
                <a:latin typeface="微软雅黑"/>
                <a:ea typeface="微软雅黑"/>
              </a:rPr>
              <a:t>下一站去哪？三种方式，由简到繁</a:t>
            </a:r>
            <a:endParaRPr/>
          </a:p>
        </p:txBody>
      </p:sp>
      <p:sp>
        <p:nvSpPr>
          <p:cNvPr id="157" name="Rectangle 4"/>
          <p:cNvSpPr/>
          <p:nvPr/>
        </p:nvSpPr>
        <p:spPr>
          <a:xfrm>
            <a:off x="685800" y="1200150"/>
            <a:ext cx="10820400" cy="9525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58" name="Rectangle 5"/>
          <p:cNvSpPr/>
          <p:nvPr/>
        </p:nvSpPr>
        <p:spPr>
          <a:xfrm>
            <a:off x="685800" y="1524000"/>
            <a:ext cx="3238500" cy="4191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59" name="Rectangle 6"/>
          <p:cNvSpPr/>
          <p:nvPr/>
        </p:nvSpPr>
        <p:spPr>
          <a:xfrm>
            <a:off x="685800" y="1524000"/>
            <a:ext cx="3238500" cy="9525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60" name="TextBox 7"/>
          <p:cNvSpPr txBox="true"/>
          <p:nvPr/>
        </p:nvSpPr>
        <p:spPr>
          <a:xfrm>
            <a:off x="952500" y="1866900"/>
            <a:ext cx="27051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true">
                <a:solidFill>
                  <a:srgbClr val="2F6FB0"/>
                </a:solidFill>
                <a:latin typeface="微软雅黑"/>
                <a:ea typeface="微软雅黑"/>
              </a:rPr>
              <a:t>静态边</a:t>
            </a:r>
            <a:endParaRPr/>
          </a:p>
        </p:txBody>
      </p:sp>
      <p:sp>
        <p:nvSpPr>
          <p:cNvPr id="161" name="TextBox 8"/>
          <p:cNvSpPr txBox="true"/>
          <p:nvPr/>
        </p:nvSpPr>
        <p:spPr>
          <a:xfrm>
            <a:off x="952500" y="2286000"/>
            <a:ext cx="27051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false">
                <a:solidFill>
                  <a:srgbClr val="667487"/>
                </a:solidFill>
                <a:latin typeface="微软雅黑"/>
                <a:ea typeface="微软雅黑"/>
              </a:rPr>
              <a:t>写死的路线</a:t>
            </a:r>
            <a:endParaRPr/>
          </a:p>
        </p:txBody>
      </p:sp>
      <p:sp>
        <p:nvSpPr>
          <p:cNvPr id="162" name="TextBox 9"/>
          <p:cNvSpPr txBox="true"/>
          <p:nvPr/>
        </p:nvSpPr>
        <p:spPr>
          <a:xfrm>
            <a:off x="952500" y="2762250"/>
            <a:ext cx="2705100" cy="266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false">
                <a:solidFill>
                  <a:srgbClr val="1F2733"/>
                </a:solidFill>
                <a:latin typeface="微软雅黑"/>
                <a:ea typeface="微软雅黑"/>
              </a:rPr>
              <a:t>add_edge("a", "b")</a:t>
            </a:r>
            <a:endParaRPr/>
          </a:p>
          <a:p>
            <a:pPr algn="l">
              <a:lnSpc>
                <a:spcPct val="160000"/>
              </a:lnSpc>
            </a:pPr>
            <a:endParaRPr/>
          </a:p>
          <a:p>
            <a:pPr algn="l">
              <a:lnSpc>
                <a:spcPct val="160000"/>
              </a:lnSpc>
            </a:pPr>
            <a:r>
              <a:rPr sz="1600" b="false">
                <a:solidFill>
                  <a:srgbClr val="1F2733"/>
                </a:solidFill>
                <a:latin typeface="微软雅黑"/>
                <a:ea typeface="微软雅黑"/>
              </a:rPr>
              <a:t>a 跑完必跑 b。</a:t>
            </a:r>
            <a:endParaRPr/>
          </a:p>
          <a:p>
            <a:pPr algn="l">
              <a:lnSpc>
                <a:spcPct val="160000"/>
              </a:lnSpc>
            </a:pPr>
            <a:r>
              <a:rPr sz="1600" b="false">
                <a:solidFill>
                  <a:srgbClr val="1F2733"/>
                </a:solidFill>
                <a:latin typeface="微软雅黑"/>
                <a:ea typeface="微软雅黑"/>
              </a:rPr>
              <a:t>路线画在图上，一眼看穿。</a:t>
            </a:r>
            <a:endParaRPr/>
          </a:p>
        </p:txBody>
      </p:sp>
      <p:sp>
        <p:nvSpPr>
          <p:cNvPr id="163" name="Rectangle 10"/>
          <p:cNvSpPr/>
          <p:nvPr/>
        </p:nvSpPr>
        <p:spPr>
          <a:xfrm>
            <a:off x="4210050" y="1524000"/>
            <a:ext cx="3619500" cy="4191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64" name="Rectangle 11"/>
          <p:cNvSpPr/>
          <p:nvPr/>
        </p:nvSpPr>
        <p:spPr>
          <a:xfrm>
            <a:off x="4210050" y="1524000"/>
            <a:ext cx="3619500" cy="9525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65" name="TextBox 12"/>
          <p:cNvSpPr txBox="true"/>
          <p:nvPr/>
        </p:nvSpPr>
        <p:spPr>
          <a:xfrm>
            <a:off x="4476750" y="1866900"/>
            <a:ext cx="30861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true">
                <a:solidFill>
                  <a:srgbClr val="1E3A5F"/>
                </a:solidFill>
                <a:latin typeface="微软雅黑"/>
                <a:ea typeface="微软雅黑"/>
              </a:rPr>
              <a:t>条件边</a:t>
            </a:r>
            <a:endParaRPr/>
          </a:p>
        </p:txBody>
      </p:sp>
      <p:sp>
        <p:nvSpPr>
          <p:cNvPr id="166" name="TextBox 13"/>
          <p:cNvSpPr txBox="true"/>
          <p:nvPr/>
        </p:nvSpPr>
        <p:spPr>
          <a:xfrm>
            <a:off x="4476750" y="2286000"/>
            <a:ext cx="30861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false">
                <a:solidFill>
                  <a:srgbClr val="667487"/>
                </a:solidFill>
                <a:latin typeface="微软雅黑"/>
                <a:ea typeface="微软雅黑"/>
              </a:rPr>
              <a:t>看状态选路</a:t>
            </a:r>
            <a:endParaRPr/>
          </a:p>
        </p:txBody>
      </p:sp>
      <p:sp>
        <p:nvSpPr>
          <p:cNvPr id="167" name="TextBox 14"/>
          <p:cNvSpPr txBox="true"/>
          <p:nvPr/>
        </p:nvSpPr>
        <p:spPr>
          <a:xfrm>
            <a:off x="4476750" y="2762250"/>
            <a:ext cx="3086100" cy="266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false">
                <a:solidFill>
                  <a:srgbClr val="1F2733"/>
                </a:solidFill>
                <a:latin typeface="微软雅黑"/>
                <a:ea typeface="微软雅黑"/>
              </a:rPr>
              <a:t>add_conditional_edges(</a:t>
            </a:r>
            <a:endParaRPr/>
          </a:p>
          <a:p>
            <a:pPr algn="l">
              <a:lnSpc>
                <a:spcPct val="160000"/>
              </a:lnSpc>
            </a:pPr>
            <a:r>
              <a:rPr sz="1600" b="false">
                <a:solidFill>
                  <a:srgbClr val="1F2733"/>
                </a:solidFill>
                <a:latin typeface="微软雅黑"/>
                <a:ea typeface="微软雅黑"/>
              </a:rPr>
              <a:t>  "agent", should_continue)</a:t>
            </a:r>
            <a:endParaRPr/>
          </a:p>
          <a:p>
            <a:pPr algn="l">
              <a:lnSpc>
                <a:spcPct val="160000"/>
              </a:lnSpc>
            </a:pPr>
            <a:endParaRPr/>
          </a:p>
          <a:p>
            <a:pPr algn="l">
              <a:lnSpc>
                <a:spcPct val="160000"/>
              </a:lnSpc>
            </a:pPr>
            <a:r>
              <a:rPr sz="1600" b="false">
                <a:solidFill>
                  <a:srgbClr val="1F2733"/>
                </a:solidFill>
                <a:latin typeface="微软雅黑"/>
                <a:ea typeface="微软雅黑"/>
              </a:rPr>
              <a:t>路由函数只读状态、返回 key，</a:t>
            </a:r>
            <a:endParaRPr/>
          </a:p>
          <a:p>
            <a:pPr algn="l">
              <a:lnSpc>
                <a:spcPct val="160000"/>
              </a:lnSpc>
            </a:pPr>
            <a:r>
              <a:rPr sz="1600" b="false">
                <a:solidFill>
                  <a:srgbClr val="1F2733"/>
                </a:solidFill>
                <a:latin typeface="微软雅黑"/>
                <a:ea typeface="微软雅黑"/>
              </a:rPr>
              <a:t>分支结构一目了然。</a:t>
            </a:r>
            <a:endParaRPr/>
          </a:p>
        </p:txBody>
      </p:sp>
      <p:sp>
        <p:nvSpPr>
          <p:cNvPr id="168" name="Rectangle 15"/>
          <p:cNvSpPr/>
          <p:nvPr/>
        </p:nvSpPr>
        <p:spPr>
          <a:xfrm>
            <a:off x="8115300" y="1524000"/>
            <a:ext cx="3390900" cy="4191000"/>
          </a:xfrm>
          <a:prstGeom prst="rect">
            <a:avLst/>
          </a:prstGeom>
          <a:solidFill>
            <a:srgbClr val="EEF3F9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69" name="Rectangle 16"/>
          <p:cNvSpPr/>
          <p:nvPr/>
        </p:nvSpPr>
        <p:spPr>
          <a:xfrm>
            <a:off x="8115300" y="1524000"/>
            <a:ext cx="3390900" cy="9525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70" name="TextBox 17"/>
          <p:cNvSpPr txBox="true"/>
          <p:nvPr/>
        </p:nvSpPr>
        <p:spPr>
          <a:xfrm>
            <a:off x="8382000" y="1866900"/>
            <a:ext cx="2857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true">
                <a:solidFill>
                  <a:srgbClr val="E8833A"/>
                </a:solidFill>
                <a:latin typeface="微软雅黑"/>
                <a:ea typeface="微软雅黑"/>
              </a:rPr>
              <a:t>Command</a:t>
            </a:r>
            <a:endParaRPr/>
          </a:p>
        </p:txBody>
      </p:sp>
      <p:sp>
        <p:nvSpPr>
          <p:cNvPr id="171" name="TextBox 18"/>
          <p:cNvSpPr txBox="true"/>
          <p:nvPr/>
        </p:nvSpPr>
        <p:spPr>
          <a:xfrm>
            <a:off x="8382000" y="2286000"/>
            <a:ext cx="2857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false">
                <a:solidFill>
                  <a:srgbClr val="667487"/>
                </a:solidFill>
                <a:latin typeface="微软雅黑"/>
                <a:ea typeface="微软雅黑"/>
              </a:rPr>
              <a:t>节点自己决定</a:t>
            </a:r>
            <a:endParaRPr/>
          </a:p>
        </p:txBody>
      </p:sp>
      <p:sp>
        <p:nvSpPr>
          <p:cNvPr id="172" name="TextBox 19"/>
          <p:cNvSpPr txBox="true"/>
          <p:nvPr/>
        </p:nvSpPr>
        <p:spPr>
          <a:xfrm>
            <a:off x="8382000" y="2762250"/>
            <a:ext cx="2857500" cy="266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false">
                <a:solidFill>
                  <a:srgbClr val="1F2733"/>
                </a:solidFill>
                <a:latin typeface="微软雅黑"/>
                <a:ea typeface="微软雅黑"/>
              </a:rPr>
              <a:t>return Command(</a:t>
            </a:r>
            <a:endParaRPr/>
          </a:p>
          <a:p>
            <a:pPr algn="l">
              <a:lnSpc>
                <a:spcPct val="160000"/>
              </a:lnSpc>
            </a:pPr>
            <a:r>
              <a:rPr sz="1600" b="false">
                <a:solidFill>
                  <a:srgbClr val="1F2733"/>
                </a:solidFill>
                <a:latin typeface="微软雅黑"/>
                <a:ea typeface="微软雅黑"/>
              </a:rPr>
              <a:t>  goto="retry", update={...})</a:t>
            </a:r>
            <a:endParaRPr/>
          </a:p>
          <a:p>
            <a:pPr algn="l">
              <a:lnSpc>
                <a:spcPct val="160000"/>
              </a:lnSpc>
            </a:pPr>
            <a:endParaRPr/>
          </a:p>
          <a:p>
            <a:pPr algn="l">
              <a:lnSpc>
                <a:spcPct val="160000"/>
              </a:lnSpc>
            </a:pPr>
            <a:r>
              <a:rPr sz="1600" b="false">
                <a:solidFill>
                  <a:srgbClr val="1F2733"/>
                </a:solidFill>
                <a:latin typeface="微软雅黑"/>
                <a:ea typeface="微软雅黑"/>
              </a:rPr>
              <a:t>下一站藏在函数体里，</a:t>
            </a:r>
            <a:endParaRPr/>
          </a:p>
          <a:p>
            <a:pPr algn="l">
              <a:lnSpc>
                <a:spcPct val="160000"/>
              </a:lnSpc>
            </a:pPr>
            <a:r>
              <a:rPr sz="1600" b="false">
                <a:solidFill>
                  <a:srgbClr val="1F2733"/>
                </a:solidFill>
                <a:latin typeface="微软雅黑"/>
                <a:ea typeface="微软雅黑"/>
              </a:rPr>
              <a:t>图失去静态可分析性。</a:t>
            </a:r>
            <a:endParaRPr/>
          </a:p>
          <a:p>
            <a:pPr algn="l">
              <a:lnSpc>
                <a:spcPct val="160000"/>
              </a:lnSpc>
            </a:pPr>
            <a:r>
              <a:rPr sz="1600" b="false">
                <a:solidFill>
                  <a:srgbClr val="1F2733"/>
                </a:solidFill>
                <a:latin typeface="微软雅黑"/>
                <a:ea typeface="微软雅黑"/>
              </a:rPr>
              <a:t>能少用就少用。</a:t>
            </a:r>
            <a:endParaRPr/>
          </a:p>
        </p:txBody>
      </p:sp>
      <p:sp>
        <p:nvSpPr>
          <p:cNvPr id="173" name="TextBox 20"/>
          <p:cNvSpPr txBox="true"/>
          <p:nvPr/>
        </p:nvSpPr>
        <p:spPr>
          <a:xfrm>
            <a:off x="11334750" y="65151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false">
                <a:solidFill>
                  <a:srgbClr val="667487"/>
                </a:solidFill>
                <a:latin typeface="微软雅黑"/>
                <a:ea typeface="微软雅黑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4" name="TextBox 2"/>
          <p:cNvSpPr txBox="true"/>
          <p:nvPr/>
        </p:nvSpPr>
        <p:spPr>
          <a:xfrm>
            <a:off x="685800" y="381000"/>
            <a:ext cx="5715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true">
                <a:solidFill>
                  <a:srgbClr val="2F6FB0"/>
                </a:solidFill>
                <a:latin typeface="微软雅黑"/>
                <a:ea typeface="微软雅黑"/>
              </a:rPr>
              <a:t>02 —— 心法四</a:t>
            </a:r>
            <a:endParaRPr/>
          </a:p>
        </p:txBody>
      </p:sp>
      <p:sp>
        <p:nvSpPr>
          <p:cNvPr id="15" name="TextBox 3"/>
          <p:cNvSpPr txBox="true"/>
          <p:nvPr/>
        </p:nvSpPr>
        <p:spPr>
          <a:xfrm>
            <a:off x="685800" y="628650"/>
            <a:ext cx="104775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300" b="true">
                <a:solidFill>
                  <a:srgbClr val="1E3A5F"/>
                </a:solidFill>
                <a:latin typeface="微软雅黑"/>
                <a:ea typeface="微软雅黑"/>
              </a:rPr>
              <a:t>Send：一次派活给 N 个人</a:t>
            </a:r>
            <a:endParaRPr/>
          </a:p>
        </p:txBody>
      </p:sp>
      <p:sp>
        <p:nvSpPr>
          <p:cNvPr id="16" name="Rectangle 4"/>
          <p:cNvSpPr/>
          <p:nvPr/>
        </p:nvSpPr>
        <p:spPr>
          <a:xfrm>
            <a:off x="685800" y="1200150"/>
            <a:ext cx="10820400" cy="9525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pic>
        <p:nvPicPr>
          <p:cNvPr id="17" name="Picture 5" descr="fanout.pn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1524000"/>
            <a:ext cx="10287000" cy="3810000"/>
          </a:xfrm>
          <a:prstGeom prst="rect">
            <a:avLst/>
          </a:prstGeom>
        </p:spPr>
      </p:pic>
      <p:sp>
        <p:nvSpPr>
          <p:cNvPr id="18" name="TextBox 6"/>
          <p:cNvSpPr txBox="true"/>
          <p:nvPr/>
        </p:nvSpPr>
        <p:spPr>
          <a:xfrm>
            <a:off x="11334750" y="65151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false">
                <a:solidFill>
                  <a:srgbClr val="667487"/>
                </a:solidFill>
                <a:latin typeface="微软雅黑"/>
                <a:ea typeface="微软雅黑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1" name="TextBox 2"/>
          <p:cNvSpPr txBox="true"/>
          <p:nvPr/>
        </p:nvSpPr>
        <p:spPr>
          <a:xfrm>
            <a:off x="685800" y="381000"/>
            <a:ext cx="5715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true">
                <a:solidFill>
                  <a:srgbClr val="2F6FB0"/>
                </a:solidFill>
                <a:latin typeface="微软雅黑"/>
                <a:ea typeface="微软雅黑"/>
              </a:rPr>
              <a:t>02 —— 心法五</a:t>
            </a:r>
            <a:endParaRPr/>
          </a:p>
        </p:txBody>
      </p:sp>
      <p:sp>
        <p:nvSpPr>
          <p:cNvPr id="22" name="TextBox 3"/>
          <p:cNvSpPr txBox="true"/>
          <p:nvPr/>
        </p:nvSpPr>
        <p:spPr>
          <a:xfrm>
            <a:off x="685800" y="628650"/>
            <a:ext cx="104775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300" b="true">
                <a:solidFill>
                  <a:srgbClr val="1E3A5F"/>
                </a:solidFill>
                <a:latin typeface="微软雅黑"/>
                <a:ea typeface="微软雅黑"/>
              </a:rPr>
              <a:t>checkpoint：每一轮存一次档</a:t>
            </a:r>
            <a:endParaRPr/>
          </a:p>
        </p:txBody>
      </p:sp>
      <p:sp>
        <p:nvSpPr>
          <p:cNvPr id="23" name="Rectangle 4"/>
          <p:cNvSpPr/>
          <p:nvPr/>
        </p:nvSpPr>
        <p:spPr>
          <a:xfrm>
            <a:off x="685800" y="1200150"/>
            <a:ext cx="10820400" cy="9525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pic>
        <p:nvPicPr>
          <p:cNvPr id="24" name="Picture 5" descr="ckpt.pn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1600200"/>
            <a:ext cx="10287000" cy="3619500"/>
          </a:xfrm>
          <a:prstGeom prst="rect">
            <a:avLst/>
          </a:prstGeom>
        </p:spPr>
      </p:pic>
      <p:sp>
        <p:nvSpPr>
          <p:cNvPr id="25" name="TextBox 6"/>
          <p:cNvSpPr txBox="true"/>
          <p:nvPr/>
        </p:nvSpPr>
        <p:spPr>
          <a:xfrm>
            <a:off x="11334750" y="65151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false">
                <a:solidFill>
                  <a:srgbClr val="667487"/>
                </a:solidFill>
                <a:latin typeface="微软雅黑"/>
                <a:ea typeface="微软雅黑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8" name="TextBox 2"/>
          <p:cNvSpPr txBox="true"/>
          <p:nvPr/>
        </p:nvSpPr>
        <p:spPr>
          <a:xfrm>
            <a:off x="685800" y="1905000"/>
            <a:ext cx="2857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true">
                <a:solidFill>
                  <a:srgbClr val="8FACCE"/>
                </a:solidFill>
                <a:latin typeface="微软雅黑"/>
                <a:ea typeface="微软雅黑"/>
              </a:rPr>
              <a:t>03</a:t>
            </a:r>
            <a:endParaRPr/>
          </a:p>
        </p:txBody>
      </p:sp>
      <p:sp>
        <p:nvSpPr>
          <p:cNvPr id="29" name="TextBox 3"/>
          <p:cNvSpPr txBox="true"/>
          <p:nvPr/>
        </p:nvSpPr>
        <p:spPr>
          <a:xfrm>
            <a:off x="685800" y="2381250"/>
            <a:ext cx="9525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4800" b="true">
                <a:solidFill>
                  <a:srgbClr val="FFFFFF"/>
                </a:solidFill>
                <a:latin typeface="微软雅黑"/>
                <a:ea typeface="微软雅黑"/>
              </a:rPr>
              <a:t>一个坑</a:t>
            </a:r>
            <a:endParaRPr/>
          </a:p>
        </p:txBody>
      </p:sp>
      <p:sp>
        <p:nvSpPr>
          <p:cNvPr id="30" name="TextBox 4"/>
          <p:cNvSpPr txBox="true"/>
          <p:nvPr/>
        </p:nvSpPr>
        <p:spPr>
          <a:xfrm>
            <a:off x="685800" y="3543300"/>
            <a:ext cx="10477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false">
                <a:solidFill>
                  <a:srgbClr val="D6E4F4"/>
                </a:solidFill>
                <a:latin typeface="微软雅黑"/>
                <a:ea typeface="微软雅黑"/>
              </a:rPr>
              <a:t>人工暂停时，同一轮里其他节点干的活，会被整轮作废。</a:t>
            </a:r>
            <a:endParaRPr/>
          </a:p>
        </p:txBody>
      </p:sp>
      <p:sp>
        <p:nvSpPr>
          <p:cNvPr id="31" name="Rectangle 5"/>
          <p:cNvSpPr/>
          <p:nvPr/>
        </p:nvSpPr>
        <p:spPr>
          <a:xfrm>
            <a:off x="685800" y="3429000"/>
            <a:ext cx="533400" cy="3810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2" name="TextBox 6"/>
          <p:cNvSpPr txBox="true"/>
          <p:nvPr/>
        </p:nvSpPr>
        <p:spPr>
          <a:xfrm>
            <a:off x="11334750" y="65151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false">
                <a:solidFill>
                  <a:srgbClr val="667487"/>
                </a:solidFill>
                <a:latin typeface="微软雅黑"/>
                <a:ea typeface="微软雅黑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5" name="TextBox 2"/>
          <p:cNvSpPr txBox="true"/>
          <p:nvPr/>
        </p:nvSpPr>
        <p:spPr>
          <a:xfrm>
            <a:off x="685800" y="381000"/>
            <a:ext cx="5715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true">
                <a:solidFill>
                  <a:srgbClr val="2F6FB0"/>
                </a:solidFill>
                <a:latin typeface="微软雅黑"/>
                <a:ea typeface="微软雅黑"/>
              </a:rPr>
              <a:t>03 —— 为什么必须作废</a:t>
            </a:r>
            <a:endParaRPr/>
          </a:p>
        </p:txBody>
      </p:sp>
      <p:sp>
        <p:nvSpPr>
          <p:cNvPr id="36" name="TextBox 3"/>
          <p:cNvSpPr txBox="true"/>
          <p:nvPr/>
        </p:nvSpPr>
        <p:spPr>
          <a:xfrm>
            <a:off x="685800" y="628650"/>
            <a:ext cx="104775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300" b="true">
                <a:solidFill>
                  <a:srgbClr val="1E3A5F"/>
                </a:solidFill>
                <a:latin typeface="微软雅黑"/>
                <a:ea typeface="微软雅黑"/>
              </a:rPr>
              <a:t>账要整轮入，不能入半截</a:t>
            </a:r>
            <a:endParaRPr/>
          </a:p>
        </p:txBody>
      </p:sp>
      <p:sp>
        <p:nvSpPr>
          <p:cNvPr id="37" name="Rectangle 4"/>
          <p:cNvSpPr/>
          <p:nvPr/>
        </p:nvSpPr>
        <p:spPr>
          <a:xfrm>
            <a:off x="685800" y="1200150"/>
            <a:ext cx="10820400" cy="9525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8" name="Rectangle 5"/>
          <p:cNvSpPr/>
          <p:nvPr/>
        </p:nvSpPr>
        <p:spPr>
          <a:xfrm>
            <a:off x="685800" y="1524000"/>
            <a:ext cx="10820400" cy="1028700"/>
          </a:xfrm>
          <a:prstGeom prst="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9" name="TextBox 6"/>
          <p:cNvSpPr txBox="true"/>
          <p:nvPr/>
        </p:nvSpPr>
        <p:spPr>
          <a:xfrm>
            <a:off x="952500" y="1809750"/>
            <a:ext cx="476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true">
                <a:solidFill>
                  <a:srgbClr val="B4441F"/>
                </a:solidFill>
                <a:latin typeface="微软雅黑"/>
                <a:ea typeface="微软雅黑"/>
              </a:rPr>
              <a:t>①</a:t>
            </a:r>
            <a:endParaRPr/>
          </a:p>
        </p:txBody>
      </p:sp>
      <p:sp>
        <p:nvSpPr>
          <p:cNvPr id="40" name="TextBox 7"/>
          <p:cNvSpPr txBox="true"/>
          <p:nvPr/>
        </p:nvSpPr>
        <p:spPr>
          <a:xfrm>
            <a:off x="1524000" y="1695450"/>
            <a:ext cx="9715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true">
                <a:solidFill>
                  <a:srgbClr val="1F2733"/>
                </a:solidFill>
                <a:latin typeface="微软雅黑"/>
                <a:ea typeface="微软雅黑"/>
              </a:rPr>
              <a:t>同一轮里，节点 A 干完了活，节点 B 却按下了暂停键</a:t>
            </a:r>
            <a:endParaRPr/>
          </a:p>
        </p:txBody>
      </p:sp>
      <p:sp>
        <p:nvSpPr>
          <p:cNvPr id="41" name="TextBox 8"/>
          <p:cNvSpPr txBox="true"/>
          <p:nvPr/>
        </p:nvSpPr>
        <p:spPr>
          <a:xfrm>
            <a:off x="1524000" y="2095500"/>
            <a:ext cx="9715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false">
                <a:solidFill>
                  <a:srgbClr val="B4441F"/>
                </a:solidFill>
                <a:latin typeface="微软雅黑"/>
                <a:ea typeface="微软雅黑"/>
              </a:rPr>
              <a:t>A 的账单要不要先入账？</a:t>
            </a:r>
            <a:endParaRPr/>
          </a:p>
        </p:txBody>
      </p:sp>
      <p:sp>
        <p:nvSpPr>
          <p:cNvPr id="42" name="Rectangle 9"/>
          <p:cNvSpPr/>
          <p:nvPr/>
        </p:nvSpPr>
        <p:spPr>
          <a:xfrm>
            <a:off x="685800" y="2762250"/>
            <a:ext cx="10820400" cy="1028700"/>
          </a:xfrm>
          <a:prstGeom prst="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43" name="TextBox 10"/>
          <p:cNvSpPr txBox="true"/>
          <p:nvPr/>
        </p:nvSpPr>
        <p:spPr>
          <a:xfrm>
            <a:off x="952500" y="3048000"/>
            <a:ext cx="476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true">
                <a:solidFill>
                  <a:srgbClr val="B4441F"/>
                </a:solidFill>
                <a:latin typeface="微软雅黑"/>
                <a:ea typeface="微软雅黑"/>
              </a:rPr>
              <a:t>②</a:t>
            </a:r>
            <a:endParaRPr/>
          </a:p>
        </p:txBody>
      </p:sp>
      <p:sp>
        <p:nvSpPr>
          <p:cNvPr id="44" name="TextBox 11"/>
          <p:cNvSpPr txBox="true"/>
          <p:nvPr/>
        </p:nvSpPr>
        <p:spPr>
          <a:xfrm>
            <a:off x="1524000" y="2933700"/>
            <a:ext cx="9715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true">
                <a:solidFill>
                  <a:srgbClr val="1F2733"/>
                </a:solidFill>
                <a:latin typeface="微软雅黑"/>
                <a:ea typeface="微软雅黑"/>
              </a:rPr>
              <a:t>如果先入账：恢复之后整轮重跑，A 再干一遍，账就记了两次</a:t>
            </a:r>
            <a:endParaRPr/>
          </a:p>
        </p:txBody>
      </p:sp>
      <p:sp>
        <p:nvSpPr>
          <p:cNvPr id="45" name="TextBox 12"/>
          <p:cNvSpPr txBox="true"/>
          <p:nvPr/>
        </p:nvSpPr>
        <p:spPr>
          <a:xfrm>
            <a:off x="1524000" y="3333750"/>
            <a:ext cx="9715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false">
                <a:solidFill>
                  <a:srgbClr val="B4441F"/>
                </a:solidFill>
                <a:latin typeface="微软雅黑"/>
                <a:ea typeface="微软雅黑"/>
              </a:rPr>
              <a:t>对累加字段就是重复扣款</a:t>
            </a:r>
            <a:endParaRPr/>
          </a:p>
        </p:txBody>
      </p:sp>
      <p:sp>
        <p:nvSpPr>
          <p:cNvPr id="46" name="Rectangle 13"/>
          <p:cNvSpPr/>
          <p:nvPr/>
        </p:nvSpPr>
        <p:spPr>
          <a:xfrm>
            <a:off x="685800" y="4000500"/>
            <a:ext cx="10820400" cy="1028700"/>
          </a:xfrm>
          <a:prstGeom prst="rect">
            <a:avLst/>
          </a:prstGeom>
          <a:solidFill>
            <a:srgbClr val="EEF3F9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47" name="TextBox 14"/>
          <p:cNvSpPr txBox="true"/>
          <p:nvPr/>
        </p:nvSpPr>
        <p:spPr>
          <a:xfrm>
            <a:off x="952500" y="4286250"/>
            <a:ext cx="476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true">
                <a:solidFill>
                  <a:srgbClr val="1E3A5F"/>
                </a:solidFill>
                <a:latin typeface="微软雅黑"/>
                <a:ea typeface="微软雅黑"/>
              </a:rPr>
              <a:t>③</a:t>
            </a:r>
            <a:endParaRPr/>
          </a:p>
        </p:txBody>
      </p:sp>
      <p:sp>
        <p:nvSpPr>
          <p:cNvPr id="48" name="TextBox 15"/>
          <p:cNvSpPr txBox="true"/>
          <p:nvPr/>
        </p:nvSpPr>
        <p:spPr>
          <a:xfrm>
            <a:off x="1524000" y="4171950"/>
            <a:ext cx="9715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true">
                <a:solidFill>
                  <a:srgbClr val="1F2733"/>
                </a:solidFill>
                <a:latin typeface="微软雅黑"/>
                <a:ea typeface="微软雅黑"/>
              </a:rPr>
              <a:t>所以规则只能是：一轮要么全入账，要么全作废</a:t>
            </a:r>
            <a:endParaRPr/>
          </a:p>
        </p:txBody>
      </p:sp>
      <p:sp>
        <p:nvSpPr>
          <p:cNvPr id="49" name="TextBox 16"/>
          <p:cNvSpPr txBox="true"/>
          <p:nvPr/>
        </p:nvSpPr>
        <p:spPr>
          <a:xfrm>
            <a:off x="1524000" y="4572000"/>
            <a:ext cx="9715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false">
                <a:solidFill>
                  <a:srgbClr val="1E3A5F"/>
                </a:solidFill>
                <a:latin typeface="微软雅黑"/>
                <a:ea typeface="微软雅黑"/>
              </a:rPr>
              <a:t>恢复后整轮重跑，结果既不丢也不重</a:t>
            </a:r>
            <a:endParaRPr/>
          </a:p>
        </p:txBody>
      </p:sp>
      <p:sp>
        <p:nvSpPr>
          <p:cNvPr id="50" name="TextBox 17"/>
          <p:cNvSpPr txBox="true"/>
          <p:nvPr/>
        </p:nvSpPr>
        <p:spPr>
          <a:xfrm>
            <a:off x="685800" y="5410200"/>
            <a:ext cx="108204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false">
                <a:solidFill>
                  <a:srgbClr val="667487"/>
                </a:solidFill>
                <a:latin typeface="微软雅黑"/>
                <a:ea typeface="微软雅黑"/>
              </a:rPr>
              <a:t>这就是「节点必须幂等」的由来：</a:t>
            </a:r>
            <a:endParaRPr/>
          </a:p>
          <a:p>
            <a:pPr algn="l">
              <a:lnSpc>
                <a:spcPct val="150000"/>
              </a:lnSpc>
            </a:pPr>
            <a:r>
              <a:rPr sz="1900" b="true">
                <a:solidFill>
                  <a:srgbClr val="1E3A5F"/>
                </a:solidFill>
                <a:latin typeface="微软雅黑"/>
                <a:ea typeface="微软雅黑"/>
              </a:rPr>
              <a:t>checkpoint 是按「轮」存的，不是按「节点」存的——重跑单位是整轮。</a:t>
            </a:r>
            <a:endParaRPr/>
          </a:p>
        </p:txBody>
      </p:sp>
      <p:sp>
        <p:nvSpPr>
          <p:cNvPr id="51" name="TextBox 18"/>
          <p:cNvSpPr txBox="true"/>
          <p:nvPr/>
        </p:nvSpPr>
        <p:spPr>
          <a:xfrm>
            <a:off x="11334750" y="65151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false">
                <a:solidFill>
                  <a:srgbClr val="667487"/>
                </a:solidFill>
                <a:latin typeface="微软雅黑"/>
                <a:ea typeface="微软雅黑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54" name="TextBox 2"/>
          <p:cNvSpPr txBox="true"/>
          <p:nvPr/>
        </p:nvSpPr>
        <p:spPr>
          <a:xfrm>
            <a:off x="685800" y="381000"/>
            <a:ext cx="5715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true">
                <a:solidFill>
                  <a:srgbClr val="2F6FB0"/>
                </a:solidFill>
                <a:latin typeface="微软雅黑"/>
                <a:ea typeface="微软雅黑"/>
              </a:rPr>
              <a:t>04 —— 拼起来</a:t>
            </a:r>
            <a:endParaRPr/>
          </a:p>
        </p:txBody>
      </p:sp>
      <p:sp>
        <p:nvSpPr>
          <p:cNvPr id="55" name="TextBox 3"/>
          <p:cNvSpPr txBox="true"/>
          <p:nvPr/>
        </p:nvSpPr>
        <p:spPr>
          <a:xfrm>
            <a:off x="685800" y="628650"/>
            <a:ext cx="104775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300" b="true">
                <a:solidFill>
                  <a:srgbClr val="1E3A5F"/>
                </a:solidFill>
                <a:latin typeface="微软雅黑"/>
                <a:ea typeface="微软雅黑"/>
              </a:rPr>
              <a:t>一张图看懂全篇</a:t>
            </a:r>
            <a:endParaRPr/>
          </a:p>
        </p:txBody>
      </p:sp>
      <p:sp>
        <p:nvSpPr>
          <p:cNvPr id="56" name="Rectangle 4"/>
          <p:cNvSpPr/>
          <p:nvPr/>
        </p:nvSpPr>
        <p:spPr>
          <a:xfrm>
            <a:off x="685800" y="1200150"/>
            <a:ext cx="10820400" cy="9525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pic>
        <p:nvPicPr>
          <p:cNvPr id="57" name="Picture 5" descr="overview.pn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1428750"/>
            <a:ext cx="10287000" cy="5334000"/>
          </a:xfrm>
          <a:prstGeom prst="rect">
            <a:avLst/>
          </a:prstGeom>
        </p:spPr>
      </p:pic>
      <p:sp>
        <p:nvSpPr>
          <p:cNvPr id="58" name="TextBox 6"/>
          <p:cNvSpPr txBox="true"/>
          <p:nvPr/>
        </p:nvSpPr>
        <p:spPr>
          <a:xfrm>
            <a:off x="11334750" y="65151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false">
                <a:solidFill>
                  <a:srgbClr val="667487"/>
                </a:solidFill>
                <a:latin typeface="微软雅黑"/>
                <a:ea typeface="微软雅黑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61" name="TextBox 2"/>
          <p:cNvSpPr txBox="true"/>
          <p:nvPr/>
        </p:nvSpPr>
        <p:spPr>
          <a:xfrm>
            <a:off x="685800" y="381000"/>
            <a:ext cx="5715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true">
                <a:solidFill>
                  <a:srgbClr val="2F6FB0"/>
                </a:solidFill>
                <a:latin typeface="微软雅黑"/>
                <a:ea typeface="微软雅黑"/>
              </a:rPr>
              <a:t>04 —— 记住什么</a:t>
            </a:r>
            <a:endParaRPr/>
          </a:p>
        </p:txBody>
      </p:sp>
      <p:sp>
        <p:nvSpPr>
          <p:cNvPr id="62" name="TextBox 3"/>
          <p:cNvSpPr txBox="true"/>
          <p:nvPr/>
        </p:nvSpPr>
        <p:spPr>
          <a:xfrm>
            <a:off x="685800" y="628650"/>
            <a:ext cx="104775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300" b="true">
                <a:solidFill>
                  <a:srgbClr val="1E3A5F"/>
                </a:solidFill>
                <a:latin typeface="微软雅黑"/>
                <a:ea typeface="微软雅黑"/>
              </a:rPr>
              <a:t>代码可以忘，这 5 句话带走</a:t>
            </a:r>
            <a:endParaRPr/>
          </a:p>
        </p:txBody>
      </p:sp>
      <p:sp>
        <p:nvSpPr>
          <p:cNvPr id="63" name="Rectangle 4"/>
          <p:cNvSpPr/>
          <p:nvPr/>
        </p:nvSpPr>
        <p:spPr>
          <a:xfrm>
            <a:off x="685800" y="1200150"/>
            <a:ext cx="10820400" cy="9525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64" name="Rectangle 5"/>
          <p:cNvSpPr/>
          <p:nvPr/>
        </p:nvSpPr>
        <p:spPr>
          <a:xfrm>
            <a:off x="685800" y="1562100"/>
            <a:ext cx="419100" cy="4191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65" name="TextBox 6"/>
          <p:cNvSpPr txBox="true"/>
          <p:nvPr/>
        </p:nvSpPr>
        <p:spPr>
          <a:xfrm>
            <a:off x="685800" y="1628775"/>
            <a:ext cx="419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true">
                <a:solidFill>
                  <a:srgbClr val="1E3A5F"/>
                </a:solidFill>
                <a:latin typeface="微软雅黑"/>
                <a:ea typeface="微软雅黑"/>
              </a:rPr>
              <a:t>1</a:t>
            </a:r>
            <a:endParaRPr/>
          </a:p>
        </p:txBody>
      </p:sp>
      <p:sp>
        <p:nvSpPr>
          <p:cNvPr id="66" name="TextBox 7"/>
          <p:cNvSpPr txBox="true"/>
          <p:nvPr/>
        </p:nvSpPr>
        <p:spPr>
          <a:xfrm>
            <a:off x="1333500" y="1619250"/>
            <a:ext cx="10096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true">
                <a:solidFill>
                  <a:srgbClr val="1F2733"/>
                </a:solidFill>
                <a:latin typeface="微软雅黑"/>
                <a:ea typeface="微软雅黑"/>
              </a:rPr>
              <a:t>节点是无状态函数，永远只交增量账单，不直接改共享状态。</a:t>
            </a:r>
            <a:endParaRPr/>
          </a:p>
        </p:txBody>
      </p:sp>
      <p:sp>
        <p:nvSpPr>
          <p:cNvPr id="67" name="Rectangle 8"/>
          <p:cNvSpPr/>
          <p:nvPr/>
        </p:nvSpPr>
        <p:spPr>
          <a:xfrm>
            <a:off x="685800" y="2343150"/>
            <a:ext cx="419100" cy="4191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68" name="TextBox 9"/>
          <p:cNvSpPr txBox="true"/>
          <p:nvPr/>
        </p:nvSpPr>
        <p:spPr>
          <a:xfrm>
            <a:off x="685800" y="2409825"/>
            <a:ext cx="419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true">
                <a:solidFill>
                  <a:srgbClr val="1E3A5F"/>
                </a:solidFill>
                <a:latin typeface="微软雅黑"/>
                <a:ea typeface="微软雅黑"/>
              </a:rPr>
              <a:t>2</a:t>
            </a:r>
            <a:endParaRPr/>
          </a:p>
        </p:txBody>
      </p:sp>
      <p:sp>
        <p:nvSpPr>
          <p:cNvPr id="69" name="TextBox 10"/>
          <p:cNvSpPr txBox="true"/>
          <p:nvPr/>
        </p:nvSpPr>
        <p:spPr>
          <a:xfrm>
            <a:off x="1333500" y="2400300"/>
            <a:ext cx="10096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false">
                <a:solidFill>
                  <a:srgbClr val="1F2733"/>
                </a:solidFill>
                <a:latin typeface="微软雅黑"/>
                <a:ea typeface="微软雅黑"/>
              </a:rPr>
              <a:t>执行是一轮一轮的：并行跑 → 收账合并 → 定下一轮，循环就是回边。</a:t>
            </a:r>
            <a:endParaRPr/>
          </a:p>
        </p:txBody>
      </p:sp>
      <p:sp>
        <p:nvSpPr>
          <p:cNvPr id="70" name="Rectangle 11"/>
          <p:cNvSpPr/>
          <p:nvPr/>
        </p:nvSpPr>
        <p:spPr>
          <a:xfrm>
            <a:off x="685800" y="3124200"/>
            <a:ext cx="419100" cy="4191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71" name="TextBox 12"/>
          <p:cNvSpPr txBox="true"/>
          <p:nvPr/>
        </p:nvSpPr>
        <p:spPr>
          <a:xfrm>
            <a:off x="685800" y="3190875"/>
            <a:ext cx="419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true">
                <a:solidFill>
                  <a:srgbClr val="1E3A5F"/>
                </a:solidFill>
                <a:latin typeface="微软雅黑"/>
                <a:ea typeface="微软雅黑"/>
              </a:rPr>
              <a:t>3</a:t>
            </a:r>
            <a:endParaRPr/>
          </a:p>
        </p:txBody>
      </p:sp>
      <p:sp>
        <p:nvSpPr>
          <p:cNvPr id="72" name="TextBox 13"/>
          <p:cNvSpPr txBox="true"/>
          <p:nvPr/>
        </p:nvSpPr>
        <p:spPr>
          <a:xfrm>
            <a:off x="1333500" y="3181350"/>
            <a:ext cx="10096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false">
                <a:solidFill>
                  <a:srgbClr val="1F2733"/>
                </a:solidFill>
                <a:latin typeface="微软雅黑"/>
                <a:ea typeface="微软雅黑"/>
              </a:rPr>
              <a:t>并行写字段必须配 reducer；框架报错是在拦住静默丢数据。</a:t>
            </a:r>
            <a:endParaRPr/>
          </a:p>
        </p:txBody>
      </p:sp>
      <p:sp>
        <p:nvSpPr>
          <p:cNvPr id="73" name="Rectangle 14"/>
          <p:cNvSpPr/>
          <p:nvPr/>
        </p:nvSpPr>
        <p:spPr>
          <a:xfrm>
            <a:off x="685800" y="3905250"/>
            <a:ext cx="419100" cy="4191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74" name="TextBox 15"/>
          <p:cNvSpPr txBox="true"/>
          <p:nvPr/>
        </p:nvSpPr>
        <p:spPr>
          <a:xfrm>
            <a:off x="685800" y="3971925"/>
            <a:ext cx="419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true">
                <a:solidFill>
                  <a:srgbClr val="1E3A5F"/>
                </a:solidFill>
                <a:latin typeface="微软雅黑"/>
                <a:ea typeface="微软雅黑"/>
              </a:rPr>
              <a:t>4</a:t>
            </a:r>
            <a:endParaRPr/>
          </a:p>
        </p:txBody>
      </p:sp>
      <p:sp>
        <p:nvSpPr>
          <p:cNvPr id="75" name="TextBox 16"/>
          <p:cNvSpPr txBox="true"/>
          <p:nvPr/>
        </p:nvSpPr>
        <p:spPr>
          <a:xfrm>
            <a:off x="1333500" y="3962400"/>
            <a:ext cx="10096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false">
                <a:solidFill>
                  <a:srgbClr val="1F2733"/>
                </a:solidFill>
                <a:latin typeface="微软雅黑"/>
                <a:ea typeface="微软雅黑"/>
              </a:rPr>
              <a:t>checkpoint 按轮存档；人工审批、断点恢复、时间旅行都是它的副产品。</a:t>
            </a:r>
            <a:endParaRPr/>
          </a:p>
        </p:txBody>
      </p:sp>
      <p:sp>
        <p:nvSpPr>
          <p:cNvPr id="76" name="Rectangle 17"/>
          <p:cNvSpPr/>
          <p:nvPr/>
        </p:nvSpPr>
        <p:spPr>
          <a:xfrm>
            <a:off x="685800" y="4686300"/>
            <a:ext cx="419100" cy="4191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77" name="TextBox 18"/>
          <p:cNvSpPr txBox="true"/>
          <p:nvPr/>
        </p:nvSpPr>
        <p:spPr>
          <a:xfrm>
            <a:off x="685800" y="4752975"/>
            <a:ext cx="419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true">
                <a:solidFill>
                  <a:srgbClr val="1E3A5F"/>
                </a:solidFill>
                <a:latin typeface="微软雅黑"/>
                <a:ea typeface="微软雅黑"/>
              </a:rPr>
              <a:t>5</a:t>
            </a:r>
            <a:endParaRPr/>
          </a:p>
        </p:txBody>
      </p:sp>
      <p:sp>
        <p:nvSpPr>
          <p:cNvPr id="78" name="TextBox 19"/>
          <p:cNvSpPr txBox="true"/>
          <p:nvPr/>
        </p:nvSpPr>
        <p:spPr>
          <a:xfrm>
            <a:off x="1333500" y="4743450"/>
            <a:ext cx="10096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true">
                <a:solidFill>
                  <a:srgbClr val="1F2733"/>
                </a:solidFill>
                <a:latin typeface="微软雅黑"/>
                <a:ea typeface="微软雅黑"/>
              </a:rPr>
              <a:t>暂停会让整轮作废重来——所以节点必须幂等。</a:t>
            </a:r>
            <a:endParaRPr/>
          </a:p>
        </p:txBody>
      </p:sp>
      <p:sp>
        <p:nvSpPr>
          <p:cNvPr id="79" name="TextBox 20"/>
          <p:cNvSpPr txBox="true"/>
          <p:nvPr/>
        </p:nvSpPr>
        <p:spPr>
          <a:xfrm>
            <a:off x="1333500" y="5676900"/>
            <a:ext cx="10096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false">
                <a:solidFill>
                  <a:srgbClr val="667487"/>
                </a:solidFill>
                <a:latin typeface="微软雅黑"/>
                <a:ea typeface="微软雅黑"/>
              </a:rPr>
              <a:t>检验标准：能回答「为什么节点不能直接 state["x"] = 1」，就算真懂了。</a:t>
            </a:r>
            <a:endParaRPr/>
          </a:p>
        </p:txBody>
      </p:sp>
      <p:sp>
        <p:nvSpPr>
          <p:cNvPr id="80" name="TextBox 21"/>
          <p:cNvSpPr txBox="true"/>
          <p:nvPr/>
        </p:nvSpPr>
        <p:spPr>
          <a:xfrm>
            <a:off x="11334750" y="65151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false">
                <a:solidFill>
                  <a:srgbClr val="667487"/>
                </a:solidFill>
                <a:latin typeface="微软雅黑"/>
                <a:ea typeface="微软雅黑"/>
              </a:rPr>
              <a:t>15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2026-10-20T09:03:55Z</dcterms:created>
  <dcterms:modified xsi:type="dcterms:W3CDTF">2026-10-20T09:03:55Z</dcterms:modified>
</cp:coreProperties>
</file>