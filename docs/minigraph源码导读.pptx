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viewProps.xml" ContentType="application/vnd.openxmlformats-officedocument.presentationml.viewProps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12192000" cy="68580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6" Type="http://schemas.openxmlformats.org/officeDocument/2006/relationships/slide" Target="slides/slide6.xml" /><Relationship Id="rId5" Type="http://schemas.openxmlformats.org/officeDocument/2006/relationships/slide" Target="slides/slide5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9" Type="http://schemas.openxmlformats.org/officeDocument/2006/relationships/tableStyles" Target="tableStyles.xml" /><Relationship Id="rId14" Type="http://schemas.openxmlformats.org/officeDocument/2006/relationships/slide" Target="slides/slide14.xml" /><Relationship Id="rId16" Type="http://schemas.openxmlformats.org/officeDocument/2006/relationships/slide" Target="slides/slide16.xml" /><Relationship Id="rId9" Type="http://schemas.openxmlformats.org/officeDocument/2006/relationships/slide" Target="slides/slide9.xml" /><Relationship Id="rId18" Type="http://schemas.openxmlformats.org/officeDocument/2006/relationships/presProps" Target="presProps.xml" /><Relationship Id="rId15" Type="http://schemas.openxmlformats.org/officeDocument/2006/relationships/slide" Target="slides/slide15.xml" /><Relationship Id="rId2" Type="http://schemas.openxmlformats.org/officeDocument/2006/relationships/slide" Target="slides/slide2.xml" /><Relationship Id="rId7" Type="http://schemas.openxmlformats.org/officeDocument/2006/relationships/slide" Target="slides/slide7.xml" /><Relationship Id="rId17" Type="http://schemas.openxmlformats.org/officeDocument/2006/relationships/slide" Target="slides/slide17.xml" /><Relationship Id="rId3" Type="http://schemas.openxmlformats.org/officeDocument/2006/relationships/slide" Target="slides/slide3.xml" /><Relationship Id="rId20" Type="http://schemas.openxmlformats.org/officeDocument/2006/relationships/viewProps" Target="viewProps.xml" /><Relationship Id="rId11" Type="http://schemas.openxmlformats.org/officeDocument/2006/relationships/slide" Target="slides/slide11.xml" /><Relationship Id="rId10" Type="http://schemas.openxmlformats.org/officeDocument/2006/relationships/slide" Target="slides/slide10.xml" /><Relationship Id="rId4" Type="http://schemas.openxmlformats.org/officeDocument/2006/relationships/slide" Target="slides/slide4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2" Type="http://schemas.openxmlformats.org/officeDocument/2006/relationships/slideLayout" Target="../slideLayouts/slideLayout3.xml" /><Relationship Id="rId0" Type="http://schemas.openxmlformats.org/officeDocument/2006/relationships/slideLayout" Target="../slideLayouts/slideLayout1.xml" /><Relationship Id="rId1" Type="http://schemas.openxmlformats.org/officeDocument/2006/relationships/slideLayout" Target="../slideLayouts/slideLayout2.xml" /><Relationship Id="rId10" Type="http://schemas.openxmlformats.org/officeDocument/2006/relationships/slideLayout" Target="../slideLayouts/slideLayout11.xml" /><Relationship Id="rId9" Type="http://schemas.openxmlformats.org/officeDocument/2006/relationships/slideLayout" Target="../slideLayouts/slideLayout10.xml" /><Relationship Id="rId7" Type="http://schemas.openxmlformats.org/officeDocument/2006/relationships/slideLayout" Target="../slideLayouts/slideLayout8.xml" /><Relationship Id="rId11" Type="http://schemas.openxmlformats.org/officeDocument/2006/relationships/theme" Target="../theme/theme1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png" /><Relationship Id="rId0" Type="http://schemas.openxmlformats.org/officeDocument/2006/relationships/slideLayout" Target="../slideLayouts/slideLayout7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4.png" /><Relationship Id="rId0" Type="http://schemas.openxmlformats.org/officeDocument/2006/relationships/slideLayout" Target="../slideLayouts/slideLayout7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2.png" /><Relationship Id="rId0" Type="http://schemas.openxmlformats.org/officeDocument/2006/relationships/slideLayout" Target="../slideLayouts/slideLayout7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3.png" /><Relationship Id="rId0" Type="http://schemas.openxmlformats.org/officeDocument/2006/relationships/slideLayout" Target="../slideLayouts/slideLayout7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_rels/slide1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0" y="0"/>
            <a:ext cx="12192000" cy="76200"/>
          </a:xfrm>
          <a:prstGeom prst="round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" name="TextBox 3"/>
          <p:cNvSpPr txBox="true"/>
          <p:nvPr/>
        </p:nvSpPr>
        <p:spPr>
          <a:xfrm>
            <a:off x="685800" y="14287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5800" y="1428750"/>
            <a:ext cx="342900" cy="381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" name="TextBox 5"/>
          <p:cNvSpPr txBox="true"/>
          <p:nvPr/>
        </p:nvSpPr>
        <p:spPr>
          <a:xfrm>
            <a:off x="1162050" y="1314450"/>
            <a:ext cx="3810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true">
                <a:solidFill>
                  <a:srgbClr val="3E6E9E"/>
                </a:solidFill>
                <a:latin typeface="Consolas"/>
                <a:ea typeface="Consolas"/>
              </a:rPr>
              <a:t>minigraph / graph.py · 693 行</a:t>
            </a:r>
            <a:endParaRPr/>
          </a:p>
        </p:txBody>
      </p:sp>
      <p:sp>
        <p:nvSpPr>
          <p:cNvPr id="7" name="TextBox 6"/>
          <p:cNvSpPr txBox="true"/>
          <p:nvPr/>
        </p:nvSpPr>
        <p:spPr>
          <a:xfrm>
            <a:off x="685800" y="1600200"/>
            <a:ext cx="59055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400" b="true">
                <a:solidFill>
                  <a:srgbClr val="1B2A41"/>
                </a:solidFill>
                <a:latin typeface="微软雅黑"/>
                <a:ea typeface="微软雅黑"/>
              </a:rPr>
              <a:t>读懂这 693 行，</a:t>
            </a:r>
            <a:endParaRPr/>
          </a:p>
          <a:p>
            <a:pPr algn="l">
              <a:lnSpc>
                <a:spcPct val="120000"/>
              </a:lnSpc>
            </a:pPr>
            <a:r>
              <a:rPr sz="4400" b="true">
                <a:solidFill>
                  <a:srgbClr val="1B2A41"/>
                </a:solidFill>
                <a:latin typeface="微软雅黑"/>
                <a:ea typeface="微软雅黑"/>
              </a:rPr>
              <a:t>就读懂了 LangGraph</a:t>
            </a:r>
            <a:endParaRPr/>
          </a:p>
        </p:txBody>
      </p:sp>
      <p:sp>
        <p:nvSpPr>
          <p:cNvPr id="8" name="TextBox 7"/>
          <p:cNvSpPr txBox="true"/>
          <p:nvPr/>
        </p:nvSpPr>
        <p:spPr>
          <a:xfrm>
            <a:off x="685800" y="3276600"/>
            <a:ext cx="53340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800" b="false">
                <a:solidFill>
                  <a:srgbClr val="1F2733"/>
                </a:solidFill>
                <a:latin typeface="微软雅黑"/>
                <a:ea typeface="微软雅黑"/>
              </a:rPr>
              <a:t>不逐行念代码。按「分层 → 数据 → 执行流 → 取舍」四步走，</a:t>
            </a:r>
            <a:endParaRPr/>
          </a:p>
          <a:p>
            <a:pPr algn="l">
              <a:lnSpc>
                <a:spcPct val="160000"/>
              </a:lnSpc>
            </a:pPr>
            <a:r>
              <a:rPr sz="1800" b="false">
                <a:solidFill>
                  <a:srgbClr val="1F2733"/>
                </a:solidFill>
                <a:latin typeface="微软雅黑"/>
                <a:ea typeface="微软雅黑"/>
              </a:rPr>
              <a:t>每一步都告诉你：看哪几行、为什么是这几行。</a:t>
            </a:r>
            <a:endParaRPr/>
          </a:p>
        </p:txBody>
      </p:sp>
      <p:sp>
        <p:nvSpPr>
          <p:cNvPr id="9" name="TextBox 8"/>
          <p:cNvSpPr txBox="true"/>
          <p:nvPr/>
        </p:nvSpPr>
        <p:spPr>
          <a:xfrm>
            <a:off x="685800" y="4476750"/>
            <a:ext cx="5334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配套源码：mini_langgraph/minigraph/graph.py</a:t>
            </a:r>
            <a:endParaRPr/>
          </a:p>
        </p:txBody>
      </p:sp>
      <p:pic>
        <p:nvPicPr>
          <p:cNvPr id="10" name="Picture 9" descr="tower_flat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6286500" y="914400"/>
            <a:ext cx="5334000" cy="36745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7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79" name="TextBox 2"/>
          <p:cNvSpPr txBox="true"/>
          <p:nvPr/>
        </p:nvSpPr>
        <p:spPr>
          <a:xfrm>
            <a:off x="685800" y="1028700"/>
            <a:ext cx="28575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400" b="true">
                <a:solidFill>
                  <a:srgbClr val="1B2A41"/>
                </a:solidFill>
                <a:latin typeface="微软雅黑"/>
                <a:ea typeface="微软雅黑"/>
              </a:rPr>
              <a:t>三条阅读主线</a:t>
            </a:r>
            <a:endParaRPr/>
          </a:p>
        </p:txBody>
      </p:sp>
      <p:sp>
        <p:nvSpPr>
          <p:cNvPr id="180" name="Rounded Rectangle 3"/>
          <p:cNvSpPr/>
          <p:nvPr/>
        </p:nvSpPr>
        <p:spPr>
          <a:xfrm>
            <a:off x="685800" y="1543050"/>
            <a:ext cx="381000" cy="381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81" name="Rectangle 4"/>
          <p:cNvSpPr/>
          <p:nvPr/>
        </p:nvSpPr>
        <p:spPr>
          <a:xfrm>
            <a:off x="685800" y="2038350"/>
            <a:ext cx="10820400" cy="1219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82" name="TextBox 5"/>
          <p:cNvSpPr txBox="true"/>
          <p:nvPr/>
        </p:nvSpPr>
        <p:spPr>
          <a:xfrm>
            <a:off x="990600" y="2362200"/>
            <a:ext cx="762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400" b="true">
                <a:solidFill>
                  <a:srgbClr val="3E6E9E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183" name="TextBox 6"/>
          <p:cNvSpPr txBox="true"/>
          <p:nvPr/>
        </p:nvSpPr>
        <p:spPr>
          <a:xfrm>
            <a:off x="1866900" y="226695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true">
                <a:solidFill>
                  <a:srgbClr val="1F2733"/>
                </a:solidFill>
                <a:latin typeface="微软雅黑"/>
                <a:ea typeface="微软雅黑"/>
              </a:rPr>
              <a:t>骨架</a:t>
            </a:r>
            <a:endParaRPr/>
          </a:p>
        </p:txBody>
      </p:sp>
      <p:sp>
        <p:nvSpPr>
          <p:cNvPr id="184" name="TextBox 7"/>
          <p:cNvSpPr txBox="true"/>
          <p:nvPr/>
        </p:nvSpPr>
        <p:spPr>
          <a:xfrm>
            <a:off x="1866900" y="2724150"/>
            <a:ext cx="723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false">
                <a:solidFill>
                  <a:srgbClr val="6B7A8C"/>
                </a:solidFill>
                <a:latin typeface="微软雅黑"/>
                <a:ea typeface="微软雅黑"/>
              </a:rPr>
              <a:t>文件怎么分层、按什么顺序读</a:t>
            </a:r>
            <a:endParaRPr/>
          </a:p>
        </p:txBody>
      </p:sp>
      <p:sp>
        <p:nvSpPr>
          <p:cNvPr id="185" name="TextBox 8"/>
          <p:cNvSpPr txBox="true"/>
          <p:nvPr/>
        </p:nvSpPr>
        <p:spPr>
          <a:xfrm>
            <a:off x="9810750" y="2324100"/>
            <a:ext cx="1428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500" b="false">
                <a:solidFill>
                  <a:srgbClr val="3E6E9E"/>
                </a:solidFill>
                <a:latin typeface="Consolas"/>
                <a:ea typeface="Consolas"/>
              </a:rPr>
              <a:t>L96 - L693</a:t>
            </a:r>
            <a:endParaRPr/>
          </a:p>
        </p:txBody>
      </p:sp>
      <p:sp>
        <p:nvSpPr>
          <p:cNvPr id="186" name="Rectangle 9"/>
          <p:cNvSpPr/>
          <p:nvPr/>
        </p:nvSpPr>
        <p:spPr>
          <a:xfrm>
            <a:off x="685800" y="3448050"/>
            <a:ext cx="10820400" cy="121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87" name="TextBox 10"/>
          <p:cNvSpPr txBox="true"/>
          <p:nvPr/>
        </p:nvSpPr>
        <p:spPr>
          <a:xfrm>
            <a:off x="990600" y="3771900"/>
            <a:ext cx="762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400" b="true">
                <a:solidFill>
                  <a:srgbClr val="3E6E9E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188" name="TextBox 11"/>
          <p:cNvSpPr txBox="true"/>
          <p:nvPr/>
        </p:nvSpPr>
        <p:spPr>
          <a:xfrm>
            <a:off x="1866900" y="367665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true">
                <a:solidFill>
                  <a:srgbClr val="1F2733"/>
                </a:solidFill>
                <a:latin typeface="微软雅黑"/>
                <a:ea typeface="微软雅黑"/>
              </a:rPr>
              <a:t>逐层读代码</a:t>
            </a:r>
            <a:endParaRPr/>
          </a:p>
        </p:txBody>
      </p:sp>
      <p:sp>
        <p:nvSpPr>
          <p:cNvPr id="189" name="TextBox 12"/>
          <p:cNvSpPr txBox="true"/>
          <p:nvPr/>
        </p:nvSpPr>
        <p:spPr>
          <a:xfrm>
            <a:off x="1866900" y="4133850"/>
            <a:ext cx="723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false">
                <a:solidFill>
                  <a:srgbClr val="6B7A8C"/>
                </a:solidFill>
                <a:latin typeface="微软雅黑"/>
                <a:ea typeface="微软雅黑"/>
              </a:rPr>
              <a:t>状态 / 控制流 / 持久 / 构建 / 执行，五层各看核心几行</a:t>
            </a:r>
            <a:endParaRPr/>
          </a:p>
        </p:txBody>
      </p:sp>
      <p:sp>
        <p:nvSpPr>
          <p:cNvPr id="190" name="TextBox 13"/>
          <p:cNvSpPr txBox="true"/>
          <p:nvPr/>
        </p:nvSpPr>
        <p:spPr>
          <a:xfrm>
            <a:off x="9810750" y="3733800"/>
            <a:ext cx="1428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500" b="false">
                <a:solidFill>
                  <a:srgbClr val="3E6E9E"/>
                </a:solidFill>
                <a:latin typeface="Consolas"/>
                <a:ea typeface="Consolas"/>
              </a:rPr>
              <a:t>L96 - L503</a:t>
            </a:r>
            <a:endParaRPr/>
          </a:p>
        </p:txBody>
      </p:sp>
      <p:sp>
        <p:nvSpPr>
          <p:cNvPr id="191" name="TextBox 14"/>
          <p:cNvSpPr txBox="true"/>
          <p:nvPr/>
        </p:nvSpPr>
        <p:spPr>
          <a:xfrm>
            <a:off x="9810750" y="4076700"/>
            <a:ext cx="1428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500" b="true">
                <a:solidFill>
                  <a:srgbClr val="E8A33D"/>
                </a:solidFill>
                <a:latin typeface="微软雅黑"/>
                <a:ea typeface="微软雅黑"/>
              </a:rPr>
              <a:t>重点</a:t>
            </a:r>
            <a:endParaRPr/>
          </a:p>
        </p:txBody>
      </p:sp>
      <p:sp>
        <p:nvSpPr>
          <p:cNvPr id="192" name="Rectangle 15"/>
          <p:cNvSpPr/>
          <p:nvPr/>
        </p:nvSpPr>
        <p:spPr>
          <a:xfrm>
            <a:off x="685800" y="4857750"/>
            <a:ext cx="10820400" cy="121920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93" name="TextBox 16"/>
          <p:cNvSpPr txBox="true"/>
          <p:nvPr/>
        </p:nvSpPr>
        <p:spPr>
          <a:xfrm>
            <a:off x="990600" y="5181600"/>
            <a:ext cx="762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400" b="true">
                <a:solidFill>
                  <a:srgbClr val="3E6E9E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94" name="TextBox 17"/>
          <p:cNvSpPr txBox="true"/>
          <p:nvPr/>
        </p:nvSpPr>
        <p:spPr>
          <a:xfrm>
            <a:off x="1866900" y="5086350"/>
            <a:ext cx="3048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00" b="true">
                <a:solidFill>
                  <a:srgbClr val="1F2733"/>
                </a:solidFill>
                <a:latin typeface="微软雅黑"/>
                <a:ea typeface="微软雅黑"/>
              </a:rPr>
              <a:t>设计精髓</a:t>
            </a:r>
            <a:endParaRPr/>
          </a:p>
        </p:txBody>
      </p:sp>
      <p:sp>
        <p:nvSpPr>
          <p:cNvPr id="195" name="TextBox 18"/>
          <p:cNvSpPr txBox="true"/>
          <p:nvPr/>
        </p:nvSpPr>
        <p:spPr>
          <a:xfrm>
            <a:off x="1866900" y="5543550"/>
            <a:ext cx="7239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false">
                <a:solidFill>
                  <a:srgbClr val="6B7A8C"/>
                </a:solidFill>
                <a:latin typeface="微软雅黑"/>
                <a:ea typeface="微软雅黑"/>
              </a:rPr>
              <a:t>8 个取舍 + 你可以动手改的 3 个点</a:t>
            </a:r>
            <a:endParaRPr/>
          </a:p>
        </p:txBody>
      </p:sp>
      <p:sp>
        <p:nvSpPr>
          <p:cNvPr id="196" name="TextBox 19"/>
          <p:cNvSpPr txBox="true"/>
          <p:nvPr/>
        </p:nvSpPr>
        <p:spPr>
          <a:xfrm>
            <a:off x="9810750" y="5143500"/>
            <a:ext cx="1428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500" b="false">
                <a:solidFill>
                  <a:srgbClr val="3E6E9E"/>
                </a:solidFill>
                <a:latin typeface="Consolas"/>
                <a:ea typeface="Consolas"/>
              </a:rPr>
              <a:t>全文</a:t>
            </a:r>
            <a:endParaRPr/>
          </a:p>
        </p:txBody>
      </p:sp>
      <p:sp>
        <p:nvSpPr>
          <p:cNvPr id="197" name="TextBox 20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9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00" name="Rounded Rectangl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01" name="TextBox 3"/>
          <p:cNvSpPr txBox="true"/>
          <p:nvPr/>
        </p:nvSpPr>
        <p:spPr>
          <a:xfrm>
            <a:off x="685800" y="2057400"/>
            <a:ext cx="1905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6E88A6"/>
                </a:solidFill>
                <a:latin typeface="Consolas"/>
                <a:ea typeface="Consolas"/>
              </a:rPr>
              <a:t>01</a:t>
            </a:r>
            <a:endParaRPr/>
          </a:p>
        </p:txBody>
      </p:sp>
      <p:sp>
        <p:nvSpPr>
          <p:cNvPr id="202" name="TextBox 4"/>
          <p:cNvSpPr txBox="true"/>
          <p:nvPr/>
        </p:nvSpPr>
        <p:spPr>
          <a:xfrm>
            <a:off x="685800" y="2514600"/>
            <a:ext cx="9525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4600" b="true">
                <a:solidFill>
                  <a:srgbClr val="FFFFFF"/>
                </a:solidFill>
                <a:latin typeface="微软雅黑"/>
                <a:ea typeface="微软雅黑"/>
              </a:rPr>
              <a:t>骨架</a:t>
            </a:r>
            <a:endParaRPr/>
          </a:p>
        </p:txBody>
      </p:sp>
      <p:sp>
        <p:nvSpPr>
          <p:cNvPr id="203" name="Rounded Rectangle 5"/>
          <p:cNvSpPr/>
          <p:nvPr/>
        </p:nvSpPr>
        <p:spPr>
          <a:xfrm>
            <a:off x="685800" y="3600450"/>
            <a:ext cx="533400" cy="381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04" name="TextBox 6"/>
          <p:cNvSpPr txBox="true"/>
          <p:nvPr/>
        </p:nvSpPr>
        <p:spPr>
          <a:xfrm>
            <a:off x="685800" y="3848100"/>
            <a:ext cx="10477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false">
                <a:solidFill>
                  <a:srgbClr val="C7D6E4"/>
                </a:solidFill>
                <a:latin typeface="微软雅黑"/>
                <a:ea typeface="微软雅黑"/>
              </a:rPr>
              <a:t>先搞清「代码怎么切的」，再谈「怎么读」——顺序错了，越读越糊涂。</a:t>
            </a:r>
            <a:endParaRPr/>
          </a:p>
        </p:txBody>
      </p:sp>
      <p:sp>
        <p:nvSpPr>
          <p:cNvPr id="205" name="TextBox 7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0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08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09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全文结构</a:t>
            </a:r>
            <a:endParaRPr/>
          </a:p>
        </p:txBody>
      </p:sp>
      <p:sp>
        <p:nvSpPr>
          <p:cNvPr id="210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推荐阅读路线：跟着数据走，不要跟着行号走</a:t>
            </a:r>
            <a:endParaRPr/>
          </a:p>
        </p:txBody>
      </p:sp>
      <p:pic>
        <p:nvPicPr>
          <p:cNvPr id="211" name="Picture 5" descr="route_flat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428750"/>
            <a:ext cx="10287000" cy="3429000"/>
          </a:xfrm>
          <a:prstGeom prst="rect">
            <a:avLst/>
          </a:prstGeom>
        </p:spPr>
      </p:pic>
      <p:sp>
        <p:nvSpPr>
          <p:cNvPr id="212" name="TextBox 6"/>
          <p:cNvSpPr txBox="true"/>
          <p:nvPr/>
        </p:nvSpPr>
        <p:spPr>
          <a:xfrm>
            <a:off x="685800" y="5334000"/>
            <a:ext cx="108204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700" b="false">
                <a:solidFill>
                  <a:srgbClr val="1F2733"/>
                </a:solidFill>
                <a:latin typeface="微软雅黑"/>
                <a:ea typeface="微软雅黑"/>
              </a:rPr>
              <a:t>为什么这个顺序：State 是数据结构的「合同」，interrupt 是最短的执行样例，</a:t>
            </a:r>
            <a:endParaRPr/>
          </a:p>
          <a:p>
            <a:pPr algn="l">
              <a:lnSpc>
                <a:spcPct val="150000"/>
              </a:lnSpc>
            </a:pPr>
            <a:r>
              <a:rPr sz="1700" b="true">
                <a:solidFill>
                  <a:srgbClr val="1B2A41"/>
                </a:solidFill>
                <a:latin typeface="微软雅黑"/>
                <a:ea typeface="微软雅黑"/>
              </a:rPr>
              <a:t>_run 是把两者串起来的发动机，_merge_writes 和 _execute_batch 是发动机里两个精密零件。</a:t>
            </a:r>
            <a:endParaRPr/>
          </a:p>
        </p:txBody>
      </p:sp>
      <p:sp>
        <p:nvSpPr>
          <p:cNvPr id="213" name="TextBox 7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21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16" name="Rounded Rectangl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17" name="TextBox 3"/>
          <p:cNvSpPr txBox="true"/>
          <p:nvPr/>
        </p:nvSpPr>
        <p:spPr>
          <a:xfrm>
            <a:off x="685800" y="2057400"/>
            <a:ext cx="1905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6E88A6"/>
                </a:solidFill>
                <a:latin typeface="Consolas"/>
                <a:ea typeface="Consolas"/>
              </a:rPr>
              <a:t>02</a:t>
            </a:r>
            <a:endParaRPr/>
          </a:p>
        </p:txBody>
      </p:sp>
      <p:sp>
        <p:nvSpPr>
          <p:cNvPr id="218" name="TextBox 4"/>
          <p:cNvSpPr txBox="true"/>
          <p:nvPr/>
        </p:nvSpPr>
        <p:spPr>
          <a:xfrm>
            <a:off x="685800" y="2514600"/>
            <a:ext cx="9525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4600" b="true">
                <a:solidFill>
                  <a:srgbClr val="FFFFFF"/>
                </a:solidFill>
                <a:latin typeface="微软雅黑"/>
                <a:ea typeface="微软雅黑"/>
              </a:rPr>
              <a:t>逐层读代码</a:t>
            </a:r>
            <a:endParaRPr/>
          </a:p>
        </p:txBody>
      </p:sp>
      <p:sp>
        <p:nvSpPr>
          <p:cNvPr id="219" name="Rounded Rectangle 5"/>
          <p:cNvSpPr/>
          <p:nvPr/>
        </p:nvSpPr>
        <p:spPr>
          <a:xfrm>
            <a:off x="685800" y="3600450"/>
            <a:ext cx="533400" cy="381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20" name="TextBox 6"/>
          <p:cNvSpPr txBox="true"/>
          <p:nvPr/>
        </p:nvSpPr>
        <p:spPr>
          <a:xfrm>
            <a:off x="685800" y="3848100"/>
            <a:ext cx="10477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false">
                <a:solidFill>
                  <a:srgbClr val="C7D6E4"/>
                </a:solidFill>
                <a:latin typeface="微软雅黑"/>
                <a:ea typeface="微软雅黑"/>
              </a:rPr>
              <a:t>每一层只讲「核心几行 + 为什么这样写」，校验性代码直接跳过。</a:t>
            </a:r>
            <a:endParaRPr/>
          </a:p>
        </p:txBody>
      </p:sp>
      <p:sp>
        <p:nvSpPr>
          <p:cNvPr id="221" name="TextBox 7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2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24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25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L96-133</a:t>
            </a:r>
            <a:endParaRPr/>
          </a:p>
        </p:txBody>
      </p:sp>
      <p:sp>
        <p:nvSpPr>
          <p:cNvPr id="226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状态层：17 行把「类型注解」变成「合并规则表」</a:t>
            </a:r>
            <a:endParaRPr/>
          </a:p>
        </p:txBody>
      </p:sp>
      <p:sp>
        <p:nvSpPr>
          <p:cNvPr id="227" name="Rectangle 5"/>
          <p:cNvSpPr/>
          <p:nvPr/>
        </p:nvSpPr>
        <p:spPr>
          <a:xfrm>
            <a:off x="685800" y="1333500"/>
            <a:ext cx="5715000" cy="3600450"/>
          </a:xfrm>
          <a:prstGeom prst="rect">
            <a:avLst/>
          </a:prstGeom>
          <a:solidFill>
            <a:srgbClr val="101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28" name="TextBox 6"/>
          <p:cNvSpPr txBox="true"/>
          <p:nvPr/>
        </p:nvSpPr>
        <p:spPr>
          <a:xfrm>
            <a:off x="857250" y="1428750"/>
            <a:ext cx="5372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State.__init_subclass__ —— 子类定义的那一刻执行</a:t>
            </a:r>
            <a:endParaRPr/>
          </a:p>
        </p:txBody>
      </p:sp>
      <p:sp>
        <p:nvSpPr>
          <p:cNvPr id="229" name="TextBox 7"/>
          <p:cNvSpPr txBox="true"/>
          <p:nvPr/>
        </p:nvSpPr>
        <p:spPr>
          <a:xfrm>
            <a:off x="857250" y="179070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96</a:t>
            </a:r>
            <a:endParaRPr/>
          </a:p>
        </p:txBody>
      </p:sp>
      <p:sp>
        <p:nvSpPr>
          <p:cNvPr id="230" name="TextBox 8"/>
          <p:cNvSpPr txBox="true"/>
          <p:nvPr/>
        </p:nvSpPr>
        <p:spPr>
          <a:xfrm>
            <a:off x="1409700" y="17907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class State(dict):</a:t>
            </a:r>
            <a:endParaRPr/>
          </a:p>
        </p:txBody>
      </p:sp>
      <p:sp>
        <p:nvSpPr>
          <p:cNvPr id="231" name="TextBox 9"/>
          <p:cNvSpPr txBox="true"/>
          <p:nvPr/>
        </p:nvSpPr>
        <p:spPr>
          <a:xfrm>
            <a:off x="857250" y="203835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E8A33D"/>
                </a:solidFill>
                <a:latin typeface="Consolas"/>
                <a:ea typeface="Consolas"/>
              </a:rPr>
              <a:t>108</a:t>
            </a:r>
            <a:endParaRPr/>
          </a:p>
        </p:txBody>
      </p:sp>
      <p:sp>
        <p:nvSpPr>
          <p:cNvPr id="232" name="TextBox 10"/>
          <p:cNvSpPr txBox="true"/>
          <p:nvPr/>
        </p:nvSpPr>
        <p:spPr>
          <a:xfrm>
            <a:off x="1409700" y="20383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    def __init_subclass__(cls):</a:t>
            </a:r>
            <a:endParaRPr/>
          </a:p>
        </p:txBody>
      </p:sp>
      <p:sp>
        <p:nvSpPr>
          <p:cNvPr id="233" name="TextBox 11"/>
          <p:cNvSpPr txBox="true"/>
          <p:nvPr/>
        </p:nvSpPr>
        <p:spPr>
          <a:xfrm>
            <a:off x="857250" y="228600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111</a:t>
            </a:r>
            <a:endParaRPr/>
          </a:p>
        </p:txBody>
      </p:sp>
      <p:sp>
        <p:nvSpPr>
          <p:cNvPr id="234" name="TextBox 12"/>
          <p:cNvSpPr txBox="true"/>
          <p:nvPr/>
        </p:nvSpPr>
        <p:spPr>
          <a:xfrm>
            <a:off x="1409700" y="22860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        for base in reversed(cls.__mro__[1:]):</a:t>
            </a:r>
            <a:endParaRPr/>
          </a:p>
        </p:txBody>
      </p:sp>
      <p:sp>
        <p:nvSpPr>
          <p:cNvPr id="235" name="TextBox 13"/>
          <p:cNvSpPr txBox="true"/>
          <p:nvPr/>
        </p:nvSpPr>
        <p:spPr>
          <a:xfrm>
            <a:off x="857250" y="253365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112</a:t>
            </a:r>
            <a:endParaRPr/>
          </a:p>
        </p:txBody>
      </p:sp>
      <p:sp>
        <p:nvSpPr>
          <p:cNvPr id="236" name="TextBox 14"/>
          <p:cNvSpPr txBox="true"/>
          <p:nvPr/>
        </p:nvSpPr>
        <p:spPr>
          <a:xfrm>
            <a:off x="1409700" y="25336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            reducers.update(base.reducers)</a:t>
            </a:r>
            <a:endParaRPr/>
          </a:p>
        </p:txBody>
      </p:sp>
      <p:sp>
        <p:nvSpPr>
          <p:cNvPr id="237" name="TextBox 15"/>
          <p:cNvSpPr txBox="true"/>
          <p:nvPr/>
        </p:nvSpPr>
        <p:spPr>
          <a:xfrm>
            <a:off x="857250" y="278130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E8A33D"/>
                </a:solidFill>
                <a:latin typeface="Consolas"/>
                <a:ea typeface="Consolas"/>
              </a:rPr>
              <a:t>113</a:t>
            </a:r>
            <a:endParaRPr/>
          </a:p>
        </p:txBody>
      </p:sp>
      <p:sp>
        <p:nvSpPr>
          <p:cNvPr id="238" name="TextBox 16"/>
          <p:cNvSpPr txBox="true"/>
          <p:nvPr/>
        </p:nvSpPr>
        <p:spPr>
          <a:xfrm>
            <a:off x="1409700" y="27813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        for name, ann in cls.__annotations__.items():</a:t>
            </a:r>
            <a:endParaRPr/>
          </a:p>
        </p:txBody>
      </p:sp>
      <p:sp>
        <p:nvSpPr>
          <p:cNvPr id="239" name="TextBox 17"/>
          <p:cNvSpPr txBox="true"/>
          <p:nvPr/>
        </p:nvSpPr>
        <p:spPr>
          <a:xfrm>
            <a:off x="857250" y="302895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116</a:t>
            </a:r>
            <a:endParaRPr/>
          </a:p>
        </p:txBody>
      </p:sp>
      <p:sp>
        <p:nvSpPr>
          <p:cNvPr id="240" name="TextBox 18"/>
          <p:cNvSpPr txBox="true"/>
          <p:nvPr/>
        </p:nvSpPr>
        <p:spPr>
          <a:xfrm>
            <a:off x="1409700" y="30289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            reducers[name] = (_extract_reducer(ann)</a:t>
            </a:r>
            <a:endParaRPr/>
          </a:p>
        </p:txBody>
      </p:sp>
      <p:sp>
        <p:nvSpPr>
          <p:cNvPr id="241" name="TextBox 19"/>
          <p:cNvSpPr txBox="true"/>
          <p:nvPr/>
        </p:nvSpPr>
        <p:spPr>
          <a:xfrm>
            <a:off x="857250" y="327660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117</a:t>
            </a:r>
            <a:endParaRPr/>
          </a:p>
        </p:txBody>
      </p:sp>
      <p:sp>
        <p:nvSpPr>
          <p:cNvPr id="242" name="TextBox 20"/>
          <p:cNvSpPr txBox="true"/>
          <p:nvPr/>
        </p:nvSpPr>
        <p:spPr>
          <a:xfrm>
            <a:off x="1409700" y="32766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                            or LAST_VALUE)</a:t>
            </a:r>
            <a:endParaRPr/>
          </a:p>
        </p:txBody>
      </p:sp>
      <p:sp>
        <p:nvSpPr>
          <p:cNvPr id="243" name="TextBox 21"/>
          <p:cNvSpPr txBox="true"/>
          <p:nvPr/>
        </p:nvSpPr>
        <p:spPr>
          <a:xfrm>
            <a:off x="1409700" y="35242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244" name="TextBox 22"/>
          <p:cNvSpPr txBox="true"/>
          <p:nvPr/>
        </p:nvSpPr>
        <p:spPr>
          <a:xfrm>
            <a:off x="1409700" y="37719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# 用户这样写：</a:t>
            </a:r>
            <a:endParaRPr/>
          </a:p>
        </p:txBody>
      </p:sp>
      <p:sp>
        <p:nvSpPr>
          <p:cNvPr id="245" name="TextBox 23"/>
          <p:cNvSpPr txBox="true"/>
          <p:nvPr/>
        </p:nvSpPr>
        <p:spPr>
          <a:xfrm>
            <a:off x="857250" y="401955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100</a:t>
            </a:r>
            <a:endParaRPr/>
          </a:p>
        </p:txBody>
      </p:sp>
      <p:sp>
        <p:nvSpPr>
          <p:cNvPr id="246" name="TextBox 24"/>
          <p:cNvSpPr txBox="true"/>
          <p:nvPr/>
        </p:nvSpPr>
        <p:spPr>
          <a:xfrm>
            <a:off x="1409700" y="40195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class S(State):</a:t>
            </a:r>
            <a:endParaRPr/>
          </a:p>
        </p:txBody>
      </p:sp>
      <p:sp>
        <p:nvSpPr>
          <p:cNvPr id="247" name="TextBox 25"/>
          <p:cNvSpPr txBox="true"/>
          <p:nvPr/>
        </p:nvSpPr>
        <p:spPr>
          <a:xfrm>
            <a:off x="857250" y="426720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E8A33D"/>
                </a:solidFill>
                <a:latin typeface="Consolas"/>
                <a:ea typeface="Consolas"/>
              </a:rPr>
              <a:t>101</a:t>
            </a:r>
            <a:endParaRPr/>
          </a:p>
        </p:txBody>
      </p:sp>
      <p:sp>
        <p:nvSpPr>
          <p:cNvPr id="248" name="TextBox 26"/>
          <p:cNvSpPr txBox="true"/>
          <p:nvPr/>
        </p:nvSpPr>
        <p:spPr>
          <a:xfrm>
            <a:off x="1409700" y="42672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    total: Annotated[int, operator.add]</a:t>
            </a:r>
            <a:endParaRPr/>
          </a:p>
        </p:txBody>
      </p:sp>
      <p:sp>
        <p:nvSpPr>
          <p:cNvPr id="249" name="TextBox 27"/>
          <p:cNvSpPr txBox="true"/>
          <p:nvPr/>
        </p:nvSpPr>
        <p:spPr>
          <a:xfrm>
            <a:off x="857250" y="451485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102</a:t>
            </a:r>
            <a:endParaRPr/>
          </a:p>
        </p:txBody>
      </p:sp>
      <p:sp>
        <p:nvSpPr>
          <p:cNvPr id="250" name="TextBox 28"/>
          <p:cNvSpPr txBox="true"/>
          <p:nvPr/>
        </p:nvSpPr>
        <p:spPr>
          <a:xfrm>
            <a:off x="1409700" y="45148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    query: str   # 无注解 → last-write-wins</a:t>
            </a:r>
            <a:endParaRPr/>
          </a:p>
        </p:txBody>
      </p:sp>
      <p:sp>
        <p:nvSpPr>
          <p:cNvPr id="251" name="Rounded Rectangle 29"/>
          <p:cNvSpPr/>
          <p:nvPr/>
        </p:nvSpPr>
        <p:spPr>
          <a:xfrm>
            <a:off x="6781800" y="1333500"/>
            <a:ext cx="4724400" cy="38100"/>
          </a:xfrm>
          <a:prstGeom prst="roundRect">
            <a:avLst/>
          </a:prstGeom>
          <a:solidFill>
            <a:srgbClr val="3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52" name="TextBox 30"/>
          <p:cNvSpPr txBox="true"/>
          <p:nvPr/>
        </p:nvSpPr>
        <p:spPr>
          <a:xfrm>
            <a:off x="6781800" y="1466850"/>
            <a:ext cx="4724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3E6E9E"/>
                </a:solidFill>
                <a:latin typeface="微软雅黑"/>
                <a:ea typeface="微软雅黑"/>
              </a:rPr>
              <a:t>魔法在 __init_subclass__</a:t>
            </a:r>
            <a:endParaRPr/>
          </a:p>
        </p:txBody>
      </p:sp>
      <p:sp>
        <p:nvSpPr>
          <p:cNvPr id="253" name="TextBox 31"/>
          <p:cNvSpPr txBox="true"/>
          <p:nvPr/>
        </p:nvSpPr>
        <p:spPr>
          <a:xfrm>
            <a:off x="6781800" y="1771650"/>
            <a:ext cx="4724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Python 提供的钩子：写 class S(State) 的那一行，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这段代码就跑完了。它扫描注解，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生成一张 {字段: reducer} 表挂在类上。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不需要装饰器、不需要注册调用。</a:t>
            </a:r>
            <a:endParaRPr/>
          </a:p>
        </p:txBody>
      </p:sp>
      <p:sp>
        <p:nvSpPr>
          <p:cNvPr id="254" name="Rounded Rectangle 32"/>
          <p:cNvSpPr/>
          <p:nvPr/>
        </p:nvSpPr>
        <p:spPr>
          <a:xfrm>
            <a:off x="6781800" y="2857500"/>
            <a:ext cx="4724400" cy="38100"/>
          </a:xfrm>
          <a:prstGeom prst="roundRect">
            <a:avLst/>
          </a:prstGeom>
          <a:solidFill>
            <a:srgbClr val="3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55" name="TextBox 33"/>
          <p:cNvSpPr txBox="true"/>
          <p:nvPr/>
        </p:nvSpPr>
        <p:spPr>
          <a:xfrm>
            <a:off x="6781800" y="2990850"/>
            <a:ext cx="4724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3E6E9E"/>
                </a:solidFill>
                <a:latin typeface="微软雅黑"/>
                <a:ea typeface="微软雅黑"/>
              </a:rPr>
              <a:t>为什么值 17 行</a:t>
            </a:r>
            <a:endParaRPr/>
          </a:p>
        </p:txBody>
      </p:sp>
      <p:sp>
        <p:nvSpPr>
          <p:cNvPr id="256" name="TextBox 34"/>
          <p:cNvSpPr txBox="true"/>
          <p:nvPr/>
        </p:nvSpPr>
        <p:spPr>
          <a:xfrm>
            <a:off x="6781800" y="3295650"/>
            <a:ext cx="4724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LangGraph 用 pydantic + Annotation.Root 做同一件事，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多出几百行是为了校验报错信息。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本质完全一样：注解即配置。</a:t>
            </a:r>
            <a:endParaRPr/>
          </a:p>
        </p:txBody>
      </p:sp>
      <p:sp>
        <p:nvSpPr>
          <p:cNvPr id="257" name="Rectangle 35"/>
          <p:cNvSpPr/>
          <p:nvPr/>
        </p:nvSpPr>
        <p:spPr>
          <a:xfrm>
            <a:off x="6781800" y="4305300"/>
            <a:ext cx="4724400" cy="10287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58" name="TextBox 36"/>
          <p:cNvSpPr txBox="true"/>
          <p:nvPr/>
        </p:nvSpPr>
        <p:spPr>
          <a:xfrm>
            <a:off x="7048500" y="4533900"/>
            <a:ext cx="4191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整张表只有两类操作：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B2A41"/>
                </a:solidFill>
                <a:latin typeface="Consolas"/>
                <a:ea typeface="Consolas"/>
              </a:rPr>
              <a:t>读 schema()  ·  写 _merge_writes（L644）</a:t>
            </a:r>
            <a:endParaRPr/>
          </a:p>
        </p:txBody>
      </p:sp>
      <p:sp>
        <p:nvSpPr>
          <p:cNvPr id="259" name="TextBox 37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2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62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63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L166-184</a:t>
            </a:r>
            <a:endParaRPr/>
          </a:p>
        </p:txBody>
      </p:sp>
      <p:sp>
        <p:nvSpPr>
          <p:cNvPr id="264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interrupt：全文件最短的执行样例，难的不在这 10 行</a:t>
            </a:r>
            <a:endParaRPr/>
          </a:p>
        </p:txBody>
      </p:sp>
      <p:sp>
        <p:nvSpPr>
          <p:cNvPr id="265" name="Rectangle 5"/>
          <p:cNvSpPr/>
          <p:nvPr/>
        </p:nvSpPr>
        <p:spPr>
          <a:xfrm>
            <a:off x="685800" y="1333500"/>
            <a:ext cx="5715000" cy="3105150"/>
          </a:xfrm>
          <a:prstGeom prst="rect">
            <a:avLst/>
          </a:prstGeom>
          <a:solidFill>
            <a:srgbClr val="101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66" name="TextBox 6"/>
          <p:cNvSpPr txBox="true"/>
          <p:nvPr/>
        </p:nvSpPr>
        <p:spPr>
          <a:xfrm>
            <a:off x="857250" y="1428750"/>
            <a:ext cx="5372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一个函数，两条路径</a:t>
            </a:r>
            <a:endParaRPr/>
          </a:p>
        </p:txBody>
      </p:sp>
      <p:sp>
        <p:nvSpPr>
          <p:cNvPr id="267" name="TextBox 7"/>
          <p:cNvSpPr txBox="true"/>
          <p:nvPr/>
        </p:nvSpPr>
        <p:spPr>
          <a:xfrm>
            <a:off x="857250" y="179070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166</a:t>
            </a:r>
            <a:endParaRPr/>
          </a:p>
        </p:txBody>
      </p:sp>
      <p:sp>
        <p:nvSpPr>
          <p:cNvPr id="268" name="TextBox 8"/>
          <p:cNvSpPr txBox="true"/>
          <p:nvPr/>
        </p:nvSpPr>
        <p:spPr>
          <a:xfrm>
            <a:off x="1409700" y="17907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class GraphInterrupt(Exception):</a:t>
            </a:r>
            <a:endParaRPr/>
          </a:p>
        </p:txBody>
      </p:sp>
      <p:sp>
        <p:nvSpPr>
          <p:cNvPr id="269" name="TextBox 9"/>
          <p:cNvSpPr txBox="true"/>
          <p:nvPr/>
        </p:nvSpPr>
        <p:spPr>
          <a:xfrm>
            <a:off x="857250" y="203835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167</a:t>
            </a:r>
            <a:endParaRPr/>
          </a:p>
        </p:txBody>
      </p:sp>
      <p:sp>
        <p:nvSpPr>
          <p:cNvPr id="270" name="TextBox 10"/>
          <p:cNvSpPr txBox="true"/>
          <p:nvPr/>
        </p:nvSpPr>
        <p:spPr>
          <a:xfrm>
            <a:off x="1409700" y="20383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    def __init__(self, value):</a:t>
            </a:r>
            <a:endParaRPr/>
          </a:p>
        </p:txBody>
      </p:sp>
      <p:sp>
        <p:nvSpPr>
          <p:cNvPr id="271" name="TextBox 11"/>
          <p:cNvSpPr txBox="true"/>
          <p:nvPr/>
        </p:nvSpPr>
        <p:spPr>
          <a:xfrm>
            <a:off x="1409700" y="22860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        self.value = value</a:t>
            </a:r>
            <a:endParaRPr/>
          </a:p>
        </p:txBody>
      </p:sp>
      <p:sp>
        <p:nvSpPr>
          <p:cNvPr id="272" name="TextBox 12"/>
          <p:cNvSpPr txBox="true"/>
          <p:nvPr/>
        </p:nvSpPr>
        <p:spPr>
          <a:xfrm>
            <a:off x="1409700" y="25336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273" name="TextBox 13"/>
          <p:cNvSpPr txBox="true"/>
          <p:nvPr/>
        </p:nvSpPr>
        <p:spPr>
          <a:xfrm>
            <a:off x="857250" y="278130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E8A33D"/>
                </a:solidFill>
                <a:latin typeface="Consolas"/>
                <a:ea typeface="Consolas"/>
              </a:rPr>
              <a:t>172</a:t>
            </a:r>
            <a:endParaRPr/>
          </a:p>
        </p:txBody>
      </p:sp>
      <p:sp>
        <p:nvSpPr>
          <p:cNvPr id="274" name="TextBox 14"/>
          <p:cNvSpPr txBox="true"/>
          <p:nvPr/>
        </p:nvSpPr>
        <p:spPr>
          <a:xfrm>
            <a:off x="1409700" y="27813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def interrupt(value):</a:t>
            </a:r>
            <a:endParaRPr/>
          </a:p>
        </p:txBody>
      </p:sp>
      <p:sp>
        <p:nvSpPr>
          <p:cNvPr id="275" name="TextBox 15"/>
          <p:cNvSpPr txBox="true"/>
          <p:nvPr/>
        </p:nvSpPr>
        <p:spPr>
          <a:xfrm>
            <a:off x="857250" y="302895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E8A33D"/>
                </a:solidFill>
                <a:latin typeface="Consolas"/>
                <a:ea typeface="Consolas"/>
              </a:rPr>
              <a:t>173</a:t>
            </a:r>
            <a:endParaRPr/>
          </a:p>
        </p:txBody>
      </p:sp>
      <p:sp>
        <p:nvSpPr>
          <p:cNvPr id="276" name="TextBox 16"/>
          <p:cNvSpPr txBox="true"/>
          <p:nvPr/>
        </p:nvSpPr>
        <p:spPr>
          <a:xfrm>
            <a:off x="1409700" y="30289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    slot = _ctx().get("slot")</a:t>
            </a:r>
            <a:endParaRPr/>
          </a:p>
        </p:txBody>
      </p:sp>
      <p:sp>
        <p:nvSpPr>
          <p:cNvPr id="277" name="TextBox 17"/>
          <p:cNvSpPr txBox="true"/>
          <p:nvPr/>
        </p:nvSpPr>
        <p:spPr>
          <a:xfrm>
            <a:off x="857250" y="327660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175</a:t>
            </a:r>
            <a:endParaRPr/>
          </a:p>
        </p:txBody>
      </p:sp>
      <p:sp>
        <p:nvSpPr>
          <p:cNvPr id="278" name="TextBox 18"/>
          <p:cNvSpPr txBox="true"/>
          <p:nvPr/>
        </p:nvSpPr>
        <p:spPr>
          <a:xfrm>
            <a:off x="1409700" y="32766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D8E2EC"/>
                </a:solidFill>
                <a:latin typeface="Consolas"/>
                <a:ea typeface="Consolas"/>
              </a:rPr>
              <a:t>    store = _ctx()["resume"]</a:t>
            </a:r>
            <a:endParaRPr/>
          </a:p>
        </p:txBody>
      </p:sp>
      <p:sp>
        <p:nvSpPr>
          <p:cNvPr id="279" name="TextBox 19"/>
          <p:cNvSpPr txBox="true"/>
          <p:nvPr/>
        </p:nvSpPr>
        <p:spPr>
          <a:xfrm>
            <a:off x="857250" y="352425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E8A33D"/>
                </a:solidFill>
                <a:latin typeface="Consolas"/>
                <a:ea typeface="Consolas"/>
              </a:rPr>
              <a:t>176</a:t>
            </a:r>
            <a:endParaRPr/>
          </a:p>
        </p:txBody>
      </p:sp>
      <p:sp>
        <p:nvSpPr>
          <p:cNvPr id="280" name="TextBox 20"/>
          <p:cNvSpPr txBox="true"/>
          <p:nvPr/>
        </p:nvSpPr>
        <p:spPr>
          <a:xfrm>
            <a:off x="1409700" y="35242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    if slot in store:</a:t>
            </a:r>
            <a:endParaRPr/>
          </a:p>
        </p:txBody>
      </p:sp>
      <p:sp>
        <p:nvSpPr>
          <p:cNvPr id="281" name="TextBox 21"/>
          <p:cNvSpPr txBox="true"/>
          <p:nvPr/>
        </p:nvSpPr>
        <p:spPr>
          <a:xfrm>
            <a:off x="857250" y="377190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E8A33D"/>
                </a:solidFill>
                <a:latin typeface="Consolas"/>
                <a:ea typeface="Consolas"/>
              </a:rPr>
              <a:t>177</a:t>
            </a:r>
            <a:endParaRPr/>
          </a:p>
        </p:txBody>
      </p:sp>
      <p:sp>
        <p:nvSpPr>
          <p:cNvPr id="282" name="TextBox 22"/>
          <p:cNvSpPr txBox="true"/>
          <p:nvPr/>
        </p:nvSpPr>
        <p:spPr>
          <a:xfrm>
            <a:off x="1409700" y="377190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        return store.pop(slot)   # ← 恢复走这</a:t>
            </a:r>
            <a:endParaRPr/>
          </a:p>
        </p:txBody>
      </p:sp>
      <p:sp>
        <p:nvSpPr>
          <p:cNvPr id="283" name="TextBox 23"/>
          <p:cNvSpPr txBox="true"/>
          <p:nvPr/>
        </p:nvSpPr>
        <p:spPr>
          <a:xfrm>
            <a:off x="857250" y="4019550"/>
            <a:ext cx="4953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false">
                <a:solidFill>
                  <a:srgbClr val="E8A33D"/>
                </a:solidFill>
                <a:latin typeface="Consolas"/>
                <a:ea typeface="Consolas"/>
              </a:rPr>
              <a:t>178</a:t>
            </a:r>
            <a:endParaRPr/>
          </a:p>
        </p:txBody>
      </p:sp>
      <p:sp>
        <p:nvSpPr>
          <p:cNvPr id="284" name="TextBox 24"/>
          <p:cNvSpPr txBox="true"/>
          <p:nvPr/>
        </p:nvSpPr>
        <p:spPr>
          <a:xfrm>
            <a:off x="1409700" y="4019550"/>
            <a:ext cx="48196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    raise GraphInterrupt(value)  # ← 首跑走这</a:t>
            </a:r>
            <a:endParaRPr/>
          </a:p>
        </p:txBody>
      </p:sp>
      <p:sp>
        <p:nvSpPr>
          <p:cNvPr id="285" name="Rounded Rectangle 25"/>
          <p:cNvSpPr/>
          <p:nvPr/>
        </p:nvSpPr>
        <p:spPr>
          <a:xfrm>
            <a:off x="6781800" y="1333500"/>
            <a:ext cx="4724400" cy="38100"/>
          </a:xfrm>
          <a:prstGeom prst="roundRect">
            <a:avLst/>
          </a:prstGeom>
          <a:solidFill>
            <a:srgbClr val="3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86" name="TextBox 26"/>
          <p:cNvSpPr txBox="true"/>
          <p:nvPr/>
        </p:nvSpPr>
        <p:spPr>
          <a:xfrm>
            <a:off x="6781800" y="1466850"/>
            <a:ext cx="4724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3E6E9E"/>
                </a:solidFill>
                <a:latin typeface="微软雅黑"/>
                <a:ea typeface="微软雅黑"/>
              </a:rPr>
              <a:t>用异常实现暂停</a:t>
            </a:r>
            <a:endParaRPr/>
          </a:p>
        </p:txBody>
      </p:sp>
      <p:sp>
        <p:nvSpPr>
          <p:cNvPr id="287" name="TextBox 27"/>
          <p:cNvSpPr txBox="true"/>
          <p:nvPr/>
        </p:nvSpPr>
        <p:spPr>
          <a:xfrm>
            <a:off x="6781800" y="1771650"/>
            <a:ext cx="4724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raise 直接把控制权交回 _run 主循环，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节点栈上的局部变量全部丢弃。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不需要 generator / async，任何同步代码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插入一行就能「冻结」。</a:t>
            </a:r>
            <a:endParaRPr/>
          </a:p>
        </p:txBody>
      </p:sp>
      <p:sp>
        <p:nvSpPr>
          <p:cNvPr id="288" name="Rounded Rectangle 28"/>
          <p:cNvSpPr/>
          <p:nvPr/>
        </p:nvSpPr>
        <p:spPr>
          <a:xfrm>
            <a:off x="6781800" y="3181350"/>
            <a:ext cx="4724400" cy="38100"/>
          </a:xfrm>
          <a:prstGeom prst="roundRect">
            <a:avLst/>
          </a:prstGeom>
          <a:solidFill>
            <a:srgbClr val="3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89" name="TextBox 29"/>
          <p:cNvSpPr txBox="true"/>
          <p:nvPr/>
        </p:nvSpPr>
        <p:spPr>
          <a:xfrm>
            <a:off x="6781800" y="3314700"/>
            <a:ext cx="4724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3E6E9E"/>
                </a:solidFill>
                <a:latin typeface="微软雅黑"/>
                <a:ea typeface="微软雅黑"/>
              </a:rPr>
              <a:t>难的是「恢复时对上暗号」</a:t>
            </a:r>
            <a:endParaRPr/>
          </a:p>
        </p:txBody>
      </p:sp>
      <p:sp>
        <p:nvSpPr>
          <p:cNvPr id="290" name="TextBox 30"/>
          <p:cNvSpPr txBox="true"/>
          <p:nvPr/>
        </p:nvSpPr>
        <p:spPr>
          <a:xfrm>
            <a:off x="6781800" y="3619500"/>
            <a:ext cx="4724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恢复 = 节点从头重跑，第二次跑到 L176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必须取到 resume 值而不是再次 raise。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钥匙是 slot，由 _run 在 L436 算出并存档。</a:t>
            </a:r>
            <a:endParaRPr/>
          </a:p>
        </p:txBody>
      </p:sp>
      <p:sp>
        <p:nvSpPr>
          <p:cNvPr id="291" name="Rectangle 31"/>
          <p:cNvSpPr/>
          <p:nvPr/>
        </p:nvSpPr>
        <p:spPr>
          <a:xfrm>
            <a:off x="6781800" y="4648200"/>
            <a:ext cx="4724400" cy="895350"/>
          </a:xfrm>
          <a:prstGeom prst="rect">
            <a:avLst/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92" name="TextBox 32"/>
          <p:cNvSpPr txBox="true"/>
          <p:nvPr/>
        </p:nvSpPr>
        <p:spPr>
          <a:xfrm>
            <a:off x="7048500" y="4800600"/>
            <a:ext cx="4191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我踩过的坑：slot 若只用「节点名」，</a:t>
            </a:r>
            <a:endParaRPr/>
          </a:p>
          <a:p>
            <a:pPr algn="l">
              <a:lnSpc>
                <a:spcPct val="150000"/>
              </a:lnSpc>
            </a:pPr>
            <a:r>
              <a:rPr sz="1500" b="true">
                <a:solidFill>
                  <a:srgbClr val="B4441F"/>
                </a:solidFill>
                <a:latin typeface="微软雅黑"/>
                <a:ea typeface="微软雅黑"/>
              </a:rPr>
              <a:t>同一节点在循环里第二次挂起会取错值。</a:t>
            </a:r>
            <a:endParaRPr/>
          </a:p>
        </p:txBody>
      </p:sp>
      <p:sp>
        <p:nvSpPr>
          <p:cNvPr id="293" name="TextBox 33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29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96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97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L193-240</a:t>
            </a:r>
            <a:endParaRPr/>
          </a:p>
        </p:txBody>
      </p:sp>
      <p:sp>
        <p:nvSpPr>
          <p:cNvPr id="298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持久层：Checkpoint 一共 4 个字段，别想复杂</a:t>
            </a:r>
            <a:endParaRPr/>
          </a:p>
        </p:txBody>
      </p:sp>
      <p:sp>
        <p:nvSpPr>
          <p:cNvPr id="299" name="Rectangle 5"/>
          <p:cNvSpPr/>
          <p:nvPr/>
        </p:nvSpPr>
        <p:spPr>
          <a:xfrm>
            <a:off x="685800" y="1428750"/>
            <a:ext cx="10820400" cy="87630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00" name="TextBox 6"/>
          <p:cNvSpPr txBox="true"/>
          <p:nvPr/>
        </p:nvSpPr>
        <p:spPr>
          <a:xfrm>
            <a:off x="990600" y="1676400"/>
            <a:ext cx="2095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true">
                <a:solidFill>
                  <a:srgbClr val="1B2A41"/>
                </a:solidFill>
                <a:latin typeface="Consolas"/>
                <a:ea typeface="Consolas"/>
              </a:rPr>
              <a:t>values</a:t>
            </a:r>
            <a:endParaRPr/>
          </a:p>
        </p:txBody>
      </p:sp>
      <p:sp>
        <p:nvSpPr>
          <p:cNvPr id="301" name="TextBox 7"/>
          <p:cNvSpPr txBox="true"/>
          <p:nvPr/>
        </p:nvSpPr>
        <p:spPr>
          <a:xfrm>
            <a:off x="3143250" y="1714500"/>
            <a:ext cx="1524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3E6E9E"/>
                </a:solidFill>
                <a:latin typeface="Consolas"/>
                <a:ea typeface="Consolas"/>
              </a:rPr>
              <a:t>dict</a:t>
            </a:r>
            <a:endParaRPr/>
          </a:p>
        </p:txBody>
      </p:sp>
      <p:sp>
        <p:nvSpPr>
          <p:cNvPr id="302" name="TextBox 8"/>
          <p:cNvSpPr txBox="true"/>
          <p:nvPr/>
        </p:nvSpPr>
        <p:spPr>
          <a:xfrm>
            <a:off x="4857750" y="1714500"/>
            <a:ext cx="628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false">
                <a:solidFill>
                  <a:srgbClr val="1F2733"/>
                </a:solidFill>
                <a:latin typeface="微软雅黑"/>
                <a:ea typeface="微软雅黑"/>
              </a:rPr>
              <a:t>这一步结束时的完整状态快照</a:t>
            </a:r>
            <a:endParaRPr/>
          </a:p>
        </p:txBody>
      </p:sp>
      <p:sp>
        <p:nvSpPr>
          <p:cNvPr id="303" name="Rectangle 9"/>
          <p:cNvSpPr/>
          <p:nvPr/>
        </p:nvSpPr>
        <p:spPr>
          <a:xfrm>
            <a:off x="685800" y="2438400"/>
            <a:ext cx="10820400" cy="87630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04" name="TextBox 10"/>
          <p:cNvSpPr txBox="true"/>
          <p:nvPr/>
        </p:nvSpPr>
        <p:spPr>
          <a:xfrm>
            <a:off x="990600" y="2686050"/>
            <a:ext cx="2095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true">
                <a:solidFill>
                  <a:srgbClr val="1B2A41"/>
                </a:solidFill>
                <a:latin typeface="Consolas"/>
                <a:ea typeface="Consolas"/>
              </a:rPr>
              <a:t>tasks</a:t>
            </a:r>
            <a:endParaRPr/>
          </a:p>
        </p:txBody>
      </p:sp>
      <p:sp>
        <p:nvSpPr>
          <p:cNvPr id="305" name="TextBox 11"/>
          <p:cNvSpPr txBox="true"/>
          <p:nvPr/>
        </p:nvSpPr>
        <p:spPr>
          <a:xfrm>
            <a:off x="3143250" y="2724150"/>
            <a:ext cx="1524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3E6E9E"/>
                </a:solidFill>
                <a:latin typeface="Consolas"/>
                <a:ea typeface="Consolas"/>
              </a:rPr>
              <a:t>list</a:t>
            </a:r>
            <a:endParaRPr/>
          </a:p>
        </p:txBody>
      </p:sp>
      <p:sp>
        <p:nvSpPr>
          <p:cNvPr id="306" name="TextBox 12"/>
          <p:cNvSpPr txBox="true"/>
          <p:nvPr/>
        </p:nvSpPr>
        <p:spPr>
          <a:xfrm>
            <a:off x="4857750" y="2724150"/>
            <a:ext cx="628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false">
                <a:solidFill>
                  <a:srgbClr val="1F2733"/>
                </a:solidFill>
                <a:latin typeface="微软雅黑"/>
                <a:ea typeface="微软雅黑"/>
              </a:rPr>
              <a:t>下一步要跑谁（Send 任务的 arg 也存着）</a:t>
            </a:r>
            <a:endParaRPr/>
          </a:p>
        </p:txBody>
      </p:sp>
      <p:sp>
        <p:nvSpPr>
          <p:cNvPr id="307" name="Rectangle 13"/>
          <p:cNvSpPr/>
          <p:nvPr/>
        </p:nvSpPr>
        <p:spPr>
          <a:xfrm>
            <a:off x="685800" y="3448050"/>
            <a:ext cx="108204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08" name="TextBox 14"/>
          <p:cNvSpPr txBox="true"/>
          <p:nvPr/>
        </p:nvSpPr>
        <p:spPr>
          <a:xfrm>
            <a:off x="990600" y="3695700"/>
            <a:ext cx="2095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true">
                <a:solidFill>
                  <a:srgbClr val="1B2A41"/>
                </a:solidFill>
                <a:latin typeface="Consolas"/>
                <a:ea typeface="Consolas"/>
              </a:rPr>
              <a:t>step</a:t>
            </a:r>
            <a:endParaRPr/>
          </a:p>
        </p:txBody>
      </p:sp>
      <p:sp>
        <p:nvSpPr>
          <p:cNvPr id="309" name="TextBox 15"/>
          <p:cNvSpPr txBox="true"/>
          <p:nvPr/>
        </p:nvSpPr>
        <p:spPr>
          <a:xfrm>
            <a:off x="3143250" y="3733800"/>
            <a:ext cx="1524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3E6E9E"/>
                </a:solidFill>
                <a:latin typeface="Consolas"/>
                <a:ea typeface="Consolas"/>
              </a:rPr>
              <a:t>int</a:t>
            </a:r>
            <a:endParaRPr/>
          </a:p>
        </p:txBody>
      </p:sp>
      <p:sp>
        <p:nvSpPr>
          <p:cNvPr id="310" name="TextBox 16"/>
          <p:cNvSpPr txBox="true"/>
          <p:nvPr/>
        </p:nvSpPr>
        <p:spPr>
          <a:xfrm>
            <a:off x="4857750" y="3733800"/>
            <a:ext cx="628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false">
                <a:solidFill>
                  <a:srgbClr val="1F2733"/>
                </a:solidFill>
                <a:latin typeface="微软雅黑"/>
                <a:ea typeface="微软雅黑"/>
              </a:rPr>
              <a:t>第几轮 —— 恢复时槽位要靠它对上</a:t>
            </a:r>
            <a:endParaRPr/>
          </a:p>
        </p:txBody>
      </p:sp>
      <p:sp>
        <p:nvSpPr>
          <p:cNvPr id="311" name="Rectangle 17"/>
          <p:cNvSpPr/>
          <p:nvPr/>
        </p:nvSpPr>
        <p:spPr>
          <a:xfrm>
            <a:off x="685800" y="4457700"/>
            <a:ext cx="10820400" cy="87630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12" name="TextBox 18"/>
          <p:cNvSpPr txBox="true"/>
          <p:nvPr/>
        </p:nvSpPr>
        <p:spPr>
          <a:xfrm>
            <a:off x="990600" y="4705350"/>
            <a:ext cx="2095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true">
                <a:solidFill>
                  <a:srgbClr val="1B2A41"/>
                </a:solidFill>
                <a:latin typeface="Consolas"/>
                <a:ea typeface="Consolas"/>
              </a:rPr>
              <a:t>interrupt</a:t>
            </a:r>
            <a:endParaRPr/>
          </a:p>
        </p:txBody>
      </p:sp>
      <p:sp>
        <p:nvSpPr>
          <p:cNvPr id="313" name="TextBox 19"/>
          <p:cNvSpPr txBox="true"/>
          <p:nvPr/>
        </p:nvSpPr>
        <p:spPr>
          <a:xfrm>
            <a:off x="3143250" y="4743450"/>
            <a:ext cx="1524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3E6E9E"/>
                </a:solidFill>
                <a:latin typeface="Consolas"/>
                <a:ea typeface="Consolas"/>
              </a:rPr>
              <a:t>dict|None</a:t>
            </a:r>
            <a:endParaRPr/>
          </a:p>
        </p:txBody>
      </p:sp>
      <p:sp>
        <p:nvSpPr>
          <p:cNvPr id="314" name="TextBox 20"/>
          <p:cNvSpPr txBox="true"/>
          <p:nvPr/>
        </p:nvSpPr>
        <p:spPr>
          <a:xfrm>
            <a:off x="4857750" y="4743450"/>
            <a:ext cx="6286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false">
                <a:solidFill>
                  <a:srgbClr val="1F2733"/>
                </a:solidFill>
                <a:latin typeface="微软雅黑"/>
                <a:ea typeface="微软雅黑"/>
              </a:rPr>
              <a:t>非 None = 图冻在某个节点等人</a:t>
            </a:r>
            <a:endParaRPr/>
          </a:p>
        </p:txBody>
      </p:sp>
      <p:sp>
        <p:nvSpPr>
          <p:cNvPr id="315" name="Rectangle 21"/>
          <p:cNvSpPr/>
          <p:nvPr/>
        </p:nvSpPr>
        <p:spPr>
          <a:xfrm>
            <a:off x="685800" y="5600700"/>
            <a:ext cx="10820400" cy="762000"/>
          </a:xfrm>
          <a:prstGeom prst="rect">
            <a:avLst/>
          </a:prstGeom>
          <a:solidFill>
            <a:srgbClr val="FDF3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16" name="TextBox 22"/>
          <p:cNvSpPr txBox="true"/>
          <p:nvPr/>
        </p:nvSpPr>
        <p:spPr>
          <a:xfrm>
            <a:off x="952500" y="5772150"/>
            <a:ext cx="10287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InMemorySaver 的 put/get/list 三个方法就是 dict 操作——</a:t>
            </a:r>
            <a:endParaRPr/>
          </a:p>
          <a:p>
            <a:pPr algn="l">
              <a:lnSpc>
                <a:spcPct val="150000"/>
              </a:lnSpc>
            </a:pPr>
            <a:r>
              <a:rPr sz="1600" b="true">
                <a:solidFill>
                  <a:srgbClr val="1B2A41"/>
                </a:solidFill>
                <a:latin typeface="微软雅黑"/>
                <a:ea typeface="微软雅黑"/>
              </a:rPr>
              <a:t>换成 PostgresSaver 时只换存储介质，执行层一行不改。这就是接口隔离。</a:t>
            </a:r>
            <a:endParaRPr/>
          </a:p>
        </p:txBody>
      </p:sp>
      <p:sp>
        <p:nvSpPr>
          <p:cNvPr id="317" name="TextBox 23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31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20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21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L247-295</a:t>
            </a:r>
            <a:endParaRPr/>
          </a:p>
        </p:txBody>
      </p:sp>
      <p:sp>
        <p:nvSpPr>
          <p:cNvPr id="322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构建层：没有逻辑，只有三类校验——但这正是易用性的来源</a:t>
            </a:r>
            <a:endParaRPr/>
          </a:p>
        </p:txBody>
      </p:sp>
      <p:sp>
        <p:nvSpPr>
          <p:cNvPr id="323" name="Rectangle 5"/>
          <p:cNvSpPr/>
          <p:nvPr/>
        </p:nvSpPr>
        <p:spPr>
          <a:xfrm>
            <a:off x="685800" y="1428750"/>
            <a:ext cx="108204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24" name="TextBox 6"/>
          <p:cNvSpPr txBox="true"/>
          <p:nvPr/>
        </p:nvSpPr>
        <p:spPr>
          <a:xfrm>
            <a:off x="990600" y="1695450"/>
            <a:ext cx="2857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true">
                <a:solidFill>
                  <a:srgbClr val="1B2A41"/>
                </a:solidFill>
                <a:latin typeface="Consolas"/>
                <a:ea typeface="Consolas"/>
              </a:rPr>
              <a:t>add_node</a:t>
            </a:r>
            <a:endParaRPr/>
          </a:p>
        </p:txBody>
      </p:sp>
      <p:sp>
        <p:nvSpPr>
          <p:cNvPr id="325" name="TextBox 7"/>
          <p:cNvSpPr txBox="true"/>
          <p:nvPr/>
        </p:nvSpPr>
        <p:spPr>
          <a:xfrm>
            <a:off x="4000500" y="1714500"/>
            <a:ext cx="4000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重名 / 保留名 START·END / action 类型</a:t>
            </a:r>
            <a:endParaRPr/>
          </a:p>
        </p:txBody>
      </p:sp>
      <p:sp>
        <p:nvSpPr>
          <p:cNvPr id="326" name="TextBox 8"/>
          <p:cNvSpPr txBox="true"/>
          <p:nvPr/>
        </p:nvSpPr>
        <p:spPr>
          <a:xfrm>
            <a:off x="8286750" y="1714500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微软雅黑"/>
                <a:ea typeface="微软雅黑"/>
              </a:rPr>
              <a:t>错在声明时，不在运行时</a:t>
            </a:r>
            <a:endParaRPr/>
          </a:p>
        </p:txBody>
      </p:sp>
      <p:sp>
        <p:nvSpPr>
          <p:cNvPr id="327" name="Rectangle 9"/>
          <p:cNvSpPr/>
          <p:nvPr/>
        </p:nvSpPr>
        <p:spPr>
          <a:xfrm>
            <a:off x="685800" y="2438400"/>
            <a:ext cx="108204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28" name="TextBox 10"/>
          <p:cNvSpPr txBox="true"/>
          <p:nvPr/>
        </p:nvSpPr>
        <p:spPr>
          <a:xfrm>
            <a:off x="990600" y="2705100"/>
            <a:ext cx="2857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true">
                <a:solidFill>
                  <a:srgbClr val="1B2A41"/>
                </a:solidFill>
                <a:latin typeface="Consolas"/>
                <a:ea typeface="Consolas"/>
              </a:rPr>
              <a:t>add_edge</a:t>
            </a:r>
            <a:endParaRPr/>
          </a:p>
        </p:txBody>
      </p:sp>
      <p:sp>
        <p:nvSpPr>
          <p:cNvPr id="329" name="TextBox 11"/>
          <p:cNvSpPr txBox="true"/>
          <p:nvPr/>
        </p:nvSpPr>
        <p:spPr>
          <a:xfrm>
            <a:off x="4000500" y="2724150"/>
            <a:ext cx="4000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源和目标必须存在；START 边 → 记为入口</a:t>
            </a:r>
            <a:endParaRPr/>
          </a:p>
        </p:txBody>
      </p:sp>
      <p:sp>
        <p:nvSpPr>
          <p:cNvPr id="330" name="TextBox 12"/>
          <p:cNvSpPr txBox="true"/>
          <p:nvPr/>
        </p:nvSpPr>
        <p:spPr>
          <a:xfrm>
            <a:off x="8286750" y="2724150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E8A33D"/>
                </a:solidFill>
                <a:latin typeface="微软雅黑"/>
                <a:ea typeface="微软雅黑"/>
              </a:rPr>
              <a:t>你拼错节点名，立刻报错</a:t>
            </a:r>
            <a:endParaRPr/>
          </a:p>
        </p:txBody>
      </p:sp>
      <p:sp>
        <p:nvSpPr>
          <p:cNvPr id="331" name="Rectangle 13"/>
          <p:cNvSpPr/>
          <p:nvPr/>
        </p:nvSpPr>
        <p:spPr>
          <a:xfrm>
            <a:off x="685800" y="3448050"/>
            <a:ext cx="108204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32" name="TextBox 14"/>
          <p:cNvSpPr txBox="true"/>
          <p:nvPr/>
        </p:nvSpPr>
        <p:spPr>
          <a:xfrm>
            <a:off x="990600" y="3714750"/>
            <a:ext cx="2857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true">
                <a:solidFill>
                  <a:srgbClr val="1B2A41"/>
                </a:solidFill>
                <a:latin typeface="Consolas"/>
                <a:ea typeface="Consolas"/>
              </a:rPr>
              <a:t>add_conditional_edges</a:t>
            </a:r>
            <a:endParaRPr/>
          </a:p>
        </p:txBody>
      </p:sp>
      <p:sp>
        <p:nvSpPr>
          <p:cNvPr id="333" name="TextBox 15"/>
          <p:cNvSpPr txBox="true"/>
          <p:nvPr/>
        </p:nvSpPr>
        <p:spPr>
          <a:xfrm>
            <a:off x="4000500" y="3733800"/>
            <a:ext cx="4000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路由函数 + 可选 path_map 翻译</a:t>
            </a:r>
            <a:endParaRPr/>
          </a:p>
        </p:txBody>
      </p:sp>
      <p:sp>
        <p:nvSpPr>
          <p:cNvPr id="334" name="TextBox 16"/>
          <p:cNvSpPr txBox="true"/>
          <p:nvPr/>
        </p:nvSpPr>
        <p:spPr>
          <a:xfrm>
            <a:off x="8286750" y="3733800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微软雅黑"/>
                <a:ea typeface="微软雅黑"/>
              </a:rPr>
              <a:t>路由逻辑留在图定义处，可静态分析</a:t>
            </a:r>
            <a:endParaRPr/>
          </a:p>
        </p:txBody>
      </p:sp>
      <p:sp>
        <p:nvSpPr>
          <p:cNvPr id="335" name="Rectangle 17"/>
          <p:cNvSpPr/>
          <p:nvPr/>
        </p:nvSpPr>
        <p:spPr>
          <a:xfrm>
            <a:off x="685800" y="4457700"/>
            <a:ext cx="10820400" cy="8763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36" name="TextBox 18"/>
          <p:cNvSpPr txBox="true"/>
          <p:nvPr/>
        </p:nvSpPr>
        <p:spPr>
          <a:xfrm>
            <a:off x="990600" y="4724400"/>
            <a:ext cx="28575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true">
                <a:solidFill>
                  <a:srgbClr val="1B2A41"/>
                </a:solidFill>
                <a:latin typeface="Consolas"/>
                <a:ea typeface="Consolas"/>
              </a:rPr>
              <a:t>compile</a:t>
            </a:r>
            <a:endParaRPr/>
          </a:p>
        </p:txBody>
      </p:sp>
      <p:sp>
        <p:nvSpPr>
          <p:cNvPr id="337" name="TextBox 19"/>
          <p:cNvSpPr txBox="true"/>
          <p:nvPr/>
        </p:nvSpPr>
        <p:spPr>
          <a:xfrm>
            <a:off x="4000500" y="4743450"/>
            <a:ext cx="40005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_validate()：扫出「没连任何边」的悬空节点</a:t>
            </a:r>
            <a:endParaRPr/>
          </a:p>
        </p:txBody>
      </p:sp>
      <p:sp>
        <p:nvSpPr>
          <p:cNvPr id="338" name="TextBox 20"/>
          <p:cNvSpPr txBox="true"/>
          <p:nvPr/>
        </p:nvSpPr>
        <p:spPr>
          <a:xfrm>
            <a:off x="8286750" y="4743450"/>
            <a:ext cx="30480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E8A33D"/>
                </a:solidFill>
                <a:latin typeface="微软雅黑"/>
                <a:ea typeface="微软雅黑"/>
              </a:rPr>
              <a:t>图不合法就拒绝编译</a:t>
            </a:r>
            <a:endParaRPr/>
          </a:p>
        </p:txBody>
      </p:sp>
      <p:sp>
        <p:nvSpPr>
          <p:cNvPr id="339" name="TextBox 21"/>
          <p:cNvSpPr txBox="true"/>
          <p:nvPr/>
        </p:nvSpPr>
        <p:spPr>
          <a:xfrm>
            <a:off x="685800" y="5638800"/>
            <a:ext cx="10820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true">
                <a:solidFill>
                  <a:srgbClr val="1B2A41"/>
                </a:solidFill>
                <a:latin typeface="微软雅黑"/>
                <a:ea typeface="微软雅黑"/>
              </a:rPr>
              <a:t>设计取向：把错误尽量左移。</a:t>
            </a:r>
            <a:endParaRPr/>
          </a:p>
          <a:p>
            <a:pPr algn="l">
              <a:lnSpc>
                <a:spcPct val="15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  build 阶段多检查一行，用户就少在生产环境深夜排障一次——这是框架代码和业务代码最大的差别。</a:t>
            </a:r>
            <a:endParaRPr/>
          </a:p>
        </p:txBody>
      </p:sp>
      <p:sp>
        <p:nvSpPr>
          <p:cNvPr id="340" name="TextBox 22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" name="Rounded Rectangle 2"/>
          <p:cNvSpPr/>
          <p:nvPr/>
        </p:nvSpPr>
        <p:spPr>
          <a:xfrm>
            <a:off x="0" y="0"/>
            <a:ext cx="12192000" cy="6858000"/>
          </a:xfrm>
          <a:prstGeom prst="round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4" name="TextBox 3"/>
          <p:cNvSpPr txBox="true"/>
          <p:nvPr/>
        </p:nvSpPr>
        <p:spPr>
          <a:xfrm>
            <a:off x="685800" y="2057400"/>
            <a:ext cx="19050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6E88A6"/>
                </a:solidFill>
                <a:latin typeface="Consolas"/>
                <a:ea typeface="Consolas"/>
              </a:rPr>
              <a:t>03</a:t>
            </a:r>
            <a:endParaRPr/>
          </a:p>
        </p:txBody>
      </p:sp>
      <p:sp>
        <p:nvSpPr>
          <p:cNvPr id="15" name="TextBox 4"/>
          <p:cNvSpPr txBox="true"/>
          <p:nvPr/>
        </p:nvSpPr>
        <p:spPr>
          <a:xfrm>
            <a:off x="685800" y="2514600"/>
            <a:ext cx="95250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4600" b="true">
                <a:solidFill>
                  <a:srgbClr val="FFFFFF"/>
                </a:solidFill>
                <a:latin typeface="微软雅黑"/>
                <a:ea typeface="微软雅黑"/>
              </a:rPr>
              <a:t>执行层</a:t>
            </a:r>
            <a:endParaRPr/>
          </a:p>
        </p:txBody>
      </p:sp>
      <p:sp>
        <p:nvSpPr>
          <p:cNvPr id="16" name="Rounded Rectangle 5"/>
          <p:cNvSpPr/>
          <p:nvPr/>
        </p:nvSpPr>
        <p:spPr>
          <a:xfrm>
            <a:off x="685800" y="3600450"/>
            <a:ext cx="533400" cy="381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7" name="TextBox 6"/>
          <p:cNvSpPr txBox="true"/>
          <p:nvPr/>
        </p:nvSpPr>
        <p:spPr>
          <a:xfrm>
            <a:off x="685800" y="3848100"/>
            <a:ext cx="10477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false">
                <a:solidFill>
                  <a:srgbClr val="C7D6E4"/>
                </a:solidFill>
                <a:latin typeface="微软雅黑"/>
                <a:ea typeface="微软雅黑"/>
              </a:rPr>
              <a:t>_run 的 136 行是全框架的心脏。先给它画一张地图，再进细节。</a:t>
            </a:r>
            <a:endParaRPr/>
          </a:p>
        </p:txBody>
      </p:sp>
      <p:sp>
        <p:nvSpPr>
          <p:cNvPr id="18" name="TextBox 7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1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2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L369-503 · CompiledGraph._run</a:t>
            </a:r>
            <a:endParaRPr/>
          </a:p>
        </p:txBody>
      </p:sp>
      <p:sp>
        <p:nvSpPr>
          <p:cNvPr id="23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_run 四段地图：恢复 → 循环 → 收账 → 落盘</a:t>
            </a:r>
            <a:endParaRPr/>
          </a:p>
        </p:txBody>
      </p:sp>
      <p:sp>
        <p:nvSpPr>
          <p:cNvPr id="24" name="Rectangle 5"/>
          <p:cNvSpPr/>
          <p:nvPr/>
        </p:nvSpPr>
        <p:spPr>
          <a:xfrm>
            <a:off x="685800" y="1428750"/>
            <a:ext cx="25527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5" name="Rectangle 6"/>
          <p:cNvSpPr/>
          <p:nvPr/>
        </p:nvSpPr>
        <p:spPr>
          <a:xfrm>
            <a:off x="685800" y="1428750"/>
            <a:ext cx="2552700" cy="76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26" name="TextBox 7"/>
          <p:cNvSpPr txBox="true"/>
          <p:nvPr/>
        </p:nvSpPr>
        <p:spPr>
          <a:xfrm>
            <a:off x="895350" y="1695450"/>
            <a:ext cx="21336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true">
                <a:solidFill>
                  <a:srgbClr val="1B2A41"/>
                </a:solidFill>
                <a:latin typeface="微软雅黑"/>
                <a:ea typeface="微软雅黑"/>
              </a:rPr>
              <a:t>① 恢复</a:t>
            </a:r>
            <a:endParaRPr/>
          </a:p>
        </p:txBody>
      </p:sp>
      <p:sp>
        <p:nvSpPr>
          <p:cNvPr id="27" name="TextBox 8"/>
          <p:cNvSpPr txBox="true"/>
          <p:nvPr/>
        </p:nvSpPr>
        <p:spPr>
          <a:xfrm>
            <a:off x="895350" y="2057400"/>
            <a:ext cx="2133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Consolas"/>
                <a:ea typeface="Consolas"/>
              </a:rPr>
              <a:t>L380-417</a:t>
            </a:r>
            <a:endParaRPr/>
          </a:p>
        </p:txBody>
      </p:sp>
      <p:sp>
        <p:nvSpPr>
          <p:cNvPr id="28" name="TextBox 9"/>
          <p:cNvSpPr txBox="true"/>
          <p:nvPr/>
        </p:nvSpPr>
        <p:spPr>
          <a:xfrm>
            <a:off x="895350" y="2400300"/>
            <a:ext cx="21336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从 checkpoint 取回状态、待跑任务、</a:t>
            </a:r>
            <a:endParaRPr/>
          </a:p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挂起信息。input=None 且有快照</a:t>
            </a:r>
            <a:endParaRPr/>
          </a:p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= 续跑；否则全新开始。</a:t>
            </a:r>
            <a:endParaRPr/>
          </a:p>
        </p:txBody>
      </p:sp>
      <p:sp>
        <p:nvSpPr>
          <p:cNvPr id="29" name="Rectangle 10"/>
          <p:cNvSpPr/>
          <p:nvPr/>
        </p:nvSpPr>
        <p:spPr>
          <a:xfrm>
            <a:off x="3448050" y="1428750"/>
            <a:ext cx="25527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0" name="Rectangle 11"/>
          <p:cNvSpPr/>
          <p:nvPr/>
        </p:nvSpPr>
        <p:spPr>
          <a:xfrm>
            <a:off x="3448050" y="1428750"/>
            <a:ext cx="2552700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1" name="TextBox 12"/>
          <p:cNvSpPr txBox="true"/>
          <p:nvPr/>
        </p:nvSpPr>
        <p:spPr>
          <a:xfrm>
            <a:off x="3657600" y="1695450"/>
            <a:ext cx="21336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true">
                <a:solidFill>
                  <a:srgbClr val="B57A1E"/>
                </a:solidFill>
                <a:latin typeface="微软雅黑"/>
                <a:ea typeface="微软雅黑"/>
              </a:rPr>
              <a:t>② 超步循环</a:t>
            </a:r>
            <a:endParaRPr/>
          </a:p>
        </p:txBody>
      </p:sp>
      <p:sp>
        <p:nvSpPr>
          <p:cNvPr id="32" name="TextBox 13"/>
          <p:cNvSpPr txBox="true"/>
          <p:nvPr/>
        </p:nvSpPr>
        <p:spPr>
          <a:xfrm>
            <a:off x="3657600" y="2057400"/>
            <a:ext cx="2133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Consolas"/>
                <a:ea typeface="Consolas"/>
              </a:rPr>
              <a:t>L422-440</a:t>
            </a:r>
            <a:endParaRPr/>
          </a:p>
        </p:txBody>
      </p:sp>
      <p:sp>
        <p:nvSpPr>
          <p:cNvPr id="33" name="TextBox 14"/>
          <p:cNvSpPr txBox="true"/>
          <p:nvPr/>
        </p:nvSpPr>
        <p:spPr>
          <a:xfrm>
            <a:off x="3657600" y="2400300"/>
            <a:ext cx="21336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snapshot = dict(values) 这一行是</a:t>
            </a:r>
            <a:endParaRPr/>
          </a:p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BSP 的灵魂：本步所有节点</a:t>
            </a:r>
            <a:endParaRPr/>
          </a:p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看同一份只读快照。</a:t>
            </a:r>
            <a:endParaRPr/>
          </a:p>
        </p:txBody>
      </p:sp>
      <p:sp>
        <p:nvSpPr>
          <p:cNvPr id="34" name="Rectangle 15"/>
          <p:cNvSpPr/>
          <p:nvPr/>
        </p:nvSpPr>
        <p:spPr>
          <a:xfrm>
            <a:off x="6210300" y="1428750"/>
            <a:ext cx="25527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5" name="Rectangle 16"/>
          <p:cNvSpPr/>
          <p:nvPr/>
        </p:nvSpPr>
        <p:spPr>
          <a:xfrm>
            <a:off x="6210300" y="1428750"/>
            <a:ext cx="2552700" cy="76200"/>
          </a:xfrm>
          <a:prstGeom prst="rect">
            <a:avLst/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36" name="TextBox 17"/>
          <p:cNvSpPr txBox="true"/>
          <p:nvPr/>
        </p:nvSpPr>
        <p:spPr>
          <a:xfrm>
            <a:off x="6419850" y="1695450"/>
            <a:ext cx="21336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true">
                <a:solidFill>
                  <a:srgbClr val="1B2A41"/>
                </a:solidFill>
                <a:latin typeface="微软雅黑"/>
                <a:ea typeface="微软雅黑"/>
              </a:rPr>
              <a:t>③ 收账</a:t>
            </a:r>
            <a:endParaRPr/>
          </a:p>
        </p:txBody>
      </p:sp>
      <p:sp>
        <p:nvSpPr>
          <p:cNvPr id="37" name="TextBox 18"/>
          <p:cNvSpPr txBox="true"/>
          <p:nvPr/>
        </p:nvSpPr>
        <p:spPr>
          <a:xfrm>
            <a:off x="6419850" y="2057400"/>
            <a:ext cx="2133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Consolas"/>
                <a:ea typeface="Consolas"/>
              </a:rPr>
              <a:t>L442-467</a:t>
            </a:r>
            <a:endParaRPr/>
          </a:p>
        </p:txBody>
      </p:sp>
      <p:sp>
        <p:nvSpPr>
          <p:cNvPr id="38" name="TextBox 19"/>
          <p:cNvSpPr txBox="true"/>
          <p:nvPr/>
        </p:nvSpPr>
        <p:spPr>
          <a:xfrm>
            <a:off x="6419850" y="2400300"/>
            <a:ext cx="21336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结果分拣：正常 → 攒 writes 和路由；</a:t>
            </a:r>
            <a:endParaRPr/>
          </a:p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interrupt → 本步作废；</a:t>
            </a:r>
            <a:endParaRPr/>
          </a:p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异常 → 直接抛。</a:t>
            </a:r>
            <a:endParaRPr/>
          </a:p>
        </p:txBody>
      </p:sp>
      <p:sp>
        <p:nvSpPr>
          <p:cNvPr id="39" name="Rectangle 20"/>
          <p:cNvSpPr/>
          <p:nvPr/>
        </p:nvSpPr>
        <p:spPr>
          <a:xfrm>
            <a:off x="8972550" y="1428750"/>
            <a:ext cx="2552700" cy="28575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0" name="Rectangle 21"/>
          <p:cNvSpPr/>
          <p:nvPr/>
        </p:nvSpPr>
        <p:spPr>
          <a:xfrm>
            <a:off x="8972550" y="1428750"/>
            <a:ext cx="2552700" cy="7620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1" name="TextBox 22"/>
          <p:cNvSpPr txBox="true"/>
          <p:nvPr/>
        </p:nvSpPr>
        <p:spPr>
          <a:xfrm>
            <a:off x="9182100" y="1695450"/>
            <a:ext cx="213360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true">
                <a:solidFill>
                  <a:srgbClr val="B57A1E"/>
                </a:solidFill>
                <a:latin typeface="微软雅黑"/>
                <a:ea typeface="微软雅黑"/>
              </a:rPr>
              <a:t>④ 落盘推进</a:t>
            </a:r>
            <a:endParaRPr/>
          </a:p>
        </p:txBody>
      </p:sp>
      <p:sp>
        <p:nvSpPr>
          <p:cNvPr id="42" name="TextBox 23"/>
          <p:cNvSpPr txBox="true"/>
          <p:nvPr/>
        </p:nvSpPr>
        <p:spPr>
          <a:xfrm>
            <a:off x="9182100" y="2057400"/>
            <a:ext cx="213360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Consolas"/>
                <a:ea typeface="Consolas"/>
              </a:rPr>
              <a:t>L469-501</a:t>
            </a:r>
            <a:endParaRPr/>
          </a:p>
        </p:txBody>
      </p:sp>
      <p:sp>
        <p:nvSpPr>
          <p:cNvPr id="43" name="TextBox 24"/>
          <p:cNvSpPr txBox="true"/>
          <p:nvPr/>
        </p:nvSpPr>
        <p:spPr>
          <a:xfrm>
            <a:off x="9182100" y="2400300"/>
            <a:ext cx="2133600" cy="171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_merge_writes 合并 → yield 流式事件 →</a:t>
            </a:r>
            <a:endParaRPr/>
          </a:p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存 checkpoint → tasks = nxt</a:t>
            </a:r>
            <a:endParaRPr/>
          </a:p>
          <a:p>
            <a:pPr algn="l">
              <a:lnSpc>
                <a:spcPct val="155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进入下一轮。</a:t>
            </a:r>
            <a:endParaRPr/>
          </a:p>
        </p:txBody>
      </p:sp>
      <p:sp>
        <p:nvSpPr>
          <p:cNvPr id="44" name="Rectangle 25"/>
          <p:cNvSpPr/>
          <p:nvPr/>
        </p:nvSpPr>
        <p:spPr>
          <a:xfrm>
            <a:off x="685800" y="4591050"/>
            <a:ext cx="10820400" cy="9144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5" name="TextBox 26"/>
          <p:cNvSpPr txBox="true"/>
          <p:nvPr/>
        </p:nvSpPr>
        <p:spPr>
          <a:xfrm>
            <a:off x="952500" y="4781550"/>
            <a:ext cx="10287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读法建议：第一遍只看 tasks 从哪来、到哪去（L383 → L429 → L500），</a:t>
            </a:r>
            <a:endParaRPr/>
          </a:p>
          <a:p>
            <a:pPr algn="l">
              <a:lnSpc>
                <a:spcPct val="155000"/>
              </a:lnSpc>
            </a:pPr>
            <a:r>
              <a:rPr sz="1600" b="true">
                <a:solidFill>
                  <a:srgbClr val="1B2A41"/>
                </a:solidFill>
                <a:latin typeface="微软雅黑"/>
                <a:ea typeface="微软雅黑"/>
              </a:rPr>
              <a:t>把 while 循环的「不变量」找出来——每一轮开始时，tasks 一定是「上一轮路由的结果」。</a:t>
            </a:r>
            <a:endParaRPr/>
          </a:p>
        </p:txBody>
      </p:sp>
      <p:sp>
        <p:nvSpPr>
          <p:cNvPr id="46" name="TextBox 27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49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0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_run 内部</a:t>
            </a:r>
            <a:endParaRPr/>
          </a:p>
        </p:txBody>
      </p:sp>
      <p:sp>
        <p:nvSpPr>
          <p:cNvPr id="51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这 3 行藏着 90% 的设计决策</a:t>
            </a:r>
            <a:endParaRPr/>
          </a:p>
        </p:txBody>
      </p:sp>
      <p:sp>
        <p:nvSpPr>
          <p:cNvPr id="52" name="Rectangle 5"/>
          <p:cNvSpPr/>
          <p:nvPr/>
        </p:nvSpPr>
        <p:spPr>
          <a:xfrm>
            <a:off x="685800" y="1333500"/>
            <a:ext cx="6096000" cy="2343150"/>
          </a:xfrm>
          <a:prstGeom prst="rect">
            <a:avLst/>
          </a:prstGeom>
          <a:solidFill>
            <a:srgbClr val="1019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53" name="TextBox 6"/>
          <p:cNvSpPr txBox="true"/>
          <p:nvPr/>
        </p:nvSpPr>
        <p:spPr>
          <a:xfrm>
            <a:off x="857250" y="1428750"/>
            <a:ext cx="5753100" cy="209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54667E"/>
                </a:solidFill>
                <a:latin typeface="Consolas"/>
                <a:ea typeface="Consolas"/>
              </a:rPr>
              <a:t>逐行对应三个设计承诺</a:t>
            </a:r>
            <a:endParaRPr/>
          </a:p>
        </p:txBody>
      </p:sp>
      <p:sp>
        <p:nvSpPr>
          <p:cNvPr id="54" name="TextBox 7"/>
          <p:cNvSpPr txBox="true"/>
          <p:nvPr/>
        </p:nvSpPr>
        <p:spPr>
          <a:xfrm>
            <a:off x="857250" y="1790700"/>
            <a:ext cx="495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430</a:t>
            </a:r>
            <a:endParaRPr/>
          </a:p>
        </p:txBody>
      </p:sp>
      <p:sp>
        <p:nvSpPr>
          <p:cNvPr id="55" name="TextBox 8"/>
          <p:cNvSpPr txBox="true"/>
          <p:nvPr/>
        </p:nvSpPr>
        <p:spPr>
          <a:xfrm>
            <a:off x="1409700" y="1790700"/>
            <a:ext cx="5200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false">
                <a:solidFill>
                  <a:srgbClr val="E8A33D"/>
                </a:solidFill>
                <a:latin typeface="Consolas"/>
                <a:ea typeface="Consolas"/>
              </a:rPr>
              <a:t>snapshot = dict(values)</a:t>
            </a:r>
            <a:endParaRPr/>
          </a:p>
        </p:txBody>
      </p:sp>
      <p:sp>
        <p:nvSpPr>
          <p:cNvPr id="56" name="TextBox 9"/>
          <p:cNvSpPr txBox="true"/>
          <p:nvPr/>
        </p:nvSpPr>
        <p:spPr>
          <a:xfrm>
            <a:off x="1409700" y="2076450"/>
            <a:ext cx="5200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57" name="TextBox 10"/>
          <p:cNvSpPr txBox="true"/>
          <p:nvPr/>
        </p:nvSpPr>
        <p:spPr>
          <a:xfrm>
            <a:off x="857250" y="2362200"/>
            <a:ext cx="495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466</a:t>
            </a:r>
            <a:endParaRPr/>
          </a:p>
        </p:txBody>
      </p:sp>
      <p:sp>
        <p:nvSpPr>
          <p:cNvPr id="58" name="TextBox 11"/>
          <p:cNvSpPr txBox="true"/>
          <p:nvPr/>
        </p:nvSpPr>
        <p:spPr>
          <a:xfrm>
            <a:off x="1409700" y="2362200"/>
            <a:ext cx="5200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false">
                <a:solidFill>
                  <a:srgbClr val="E8A33D"/>
                </a:solidFill>
                <a:latin typeface="Consolas"/>
                <a:ea typeface="Consolas"/>
              </a:rPr>
              <a:t>if writes and hit is None:</a:t>
            </a:r>
            <a:endParaRPr/>
          </a:p>
        </p:txBody>
      </p:sp>
      <p:sp>
        <p:nvSpPr>
          <p:cNvPr id="59" name="TextBox 12"/>
          <p:cNvSpPr txBox="true"/>
          <p:nvPr/>
        </p:nvSpPr>
        <p:spPr>
          <a:xfrm>
            <a:off x="857250" y="2647950"/>
            <a:ext cx="495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467</a:t>
            </a:r>
            <a:endParaRPr/>
          </a:p>
        </p:txBody>
      </p:sp>
      <p:sp>
        <p:nvSpPr>
          <p:cNvPr id="60" name="TextBox 13"/>
          <p:cNvSpPr txBox="true"/>
          <p:nvPr/>
        </p:nvSpPr>
        <p:spPr>
          <a:xfrm>
            <a:off x="1409700" y="2647950"/>
            <a:ext cx="5200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false">
                <a:solidFill>
                  <a:srgbClr val="E8A33D"/>
                </a:solidFill>
                <a:latin typeface="Consolas"/>
                <a:ea typeface="Consolas"/>
              </a:rPr>
              <a:t>    values = _merge_writes(...)</a:t>
            </a:r>
            <a:endParaRPr/>
          </a:p>
        </p:txBody>
      </p:sp>
      <p:sp>
        <p:nvSpPr>
          <p:cNvPr id="61" name="TextBox 14"/>
          <p:cNvSpPr txBox="true"/>
          <p:nvPr/>
        </p:nvSpPr>
        <p:spPr>
          <a:xfrm>
            <a:off x="1409700" y="2933700"/>
            <a:ext cx="5200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endParaRPr/>
          </a:p>
        </p:txBody>
      </p:sp>
      <p:sp>
        <p:nvSpPr>
          <p:cNvPr id="62" name="TextBox 15"/>
          <p:cNvSpPr txBox="true"/>
          <p:nvPr/>
        </p:nvSpPr>
        <p:spPr>
          <a:xfrm>
            <a:off x="857250" y="3219450"/>
            <a:ext cx="4953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false">
                <a:solidFill>
                  <a:srgbClr val="E8A33D"/>
                </a:solidFill>
                <a:latin typeface="Consolas"/>
                <a:ea typeface="Consolas"/>
              </a:rPr>
              <a:t>485</a:t>
            </a:r>
            <a:endParaRPr/>
          </a:p>
        </p:txBody>
      </p:sp>
      <p:sp>
        <p:nvSpPr>
          <p:cNvPr id="63" name="TextBox 16"/>
          <p:cNvSpPr txBox="true"/>
          <p:nvPr/>
        </p:nvSpPr>
        <p:spPr>
          <a:xfrm>
            <a:off x="1409700" y="3219450"/>
            <a:ext cx="5200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false">
                <a:solidFill>
                  <a:srgbClr val="E8A33D"/>
                </a:solidFill>
                <a:latin typeface="Consolas"/>
                <a:ea typeface="Consolas"/>
              </a:rPr>
              <a:t>nxt = _dedupe_tasks(nxt)</a:t>
            </a:r>
            <a:endParaRPr/>
          </a:p>
        </p:txBody>
      </p:sp>
      <p:sp>
        <p:nvSpPr>
          <p:cNvPr id="64" name="Rounded Rectangle 17"/>
          <p:cNvSpPr/>
          <p:nvPr/>
        </p:nvSpPr>
        <p:spPr>
          <a:xfrm>
            <a:off x="7162800" y="1390650"/>
            <a:ext cx="4343400" cy="38100"/>
          </a:xfrm>
          <a:prstGeom prst="roundRect">
            <a:avLst/>
          </a:prstGeom>
          <a:solidFill>
            <a:srgbClr val="3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5" name="TextBox 18"/>
          <p:cNvSpPr txBox="true"/>
          <p:nvPr/>
        </p:nvSpPr>
        <p:spPr>
          <a:xfrm>
            <a:off x="7162800" y="1524000"/>
            <a:ext cx="4343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3E6E9E"/>
                </a:solidFill>
                <a:latin typeface="微软雅黑"/>
                <a:ea typeface="微软雅黑"/>
              </a:rPr>
              <a:t>① 快照 = 并行的前提</a:t>
            </a:r>
            <a:endParaRPr/>
          </a:p>
        </p:txBody>
      </p:sp>
      <p:sp>
        <p:nvSpPr>
          <p:cNvPr id="66" name="TextBox 19"/>
          <p:cNvSpPr txBox="true"/>
          <p:nvPr/>
        </p:nvSpPr>
        <p:spPr>
          <a:xfrm>
            <a:off x="7162800" y="1828800"/>
            <a:ext cx="4343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所有节点读同一份 dict(values)。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没有它，「并行」和「确定性」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二者只能保一个。</a:t>
            </a:r>
            <a:endParaRPr/>
          </a:p>
        </p:txBody>
      </p:sp>
      <p:sp>
        <p:nvSpPr>
          <p:cNvPr id="67" name="Rounded Rectangle 20"/>
          <p:cNvSpPr/>
          <p:nvPr/>
        </p:nvSpPr>
        <p:spPr>
          <a:xfrm>
            <a:off x="7162800" y="2819400"/>
            <a:ext cx="4343400" cy="3810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68" name="TextBox 21"/>
          <p:cNvSpPr txBox="true"/>
          <p:nvPr/>
        </p:nvSpPr>
        <p:spPr>
          <a:xfrm>
            <a:off x="7162800" y="2952750"/>
            <a:ext cx="4343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E8A33D"/>
                </a:solidFill>
                <a:latin typeface="微软雅黑"/>
                <a:ea typeface="微软雅黑"/>
              </a:rPr>
              <a:t>② hit is None = 事务性提交</a:t>
            </a:r>
            <a:endParaRPr/>
          </a:p>
        </p:txBody>
      </p:sp>
      <p:sp>
        <p:nvSpPr>
          <p:cNvPr id="69" name="TextBox 22"/>
          <p:cNvSpPr txBox="true"/>
          <p:nvPr/>
        </p:nvSpPr>
        <p:spPr>
          <a:xfrm>
            <a:off x="7162800" y="3257550"/>
            <a:ext cx="4343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本步只要有人挂起，全部写入丢弃。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「一步要么全提交、要么全不提交」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——BSP 屏障的代码形态。</a:t>
            </a:r>
            <a:endParaRPr/>
          </a:p>
        </p:txBody>
      </p:sp>
      <p:sp>
        <p:nvSpPr>
          <p:cNvPr id="70" name="Rounded Rectangle 23"/>
          <p:cNvSpPr/>
          <p:nvPr/>
        </p:nvSpPr>
        <p:spPr>
          <a:xfrm>
            <a:off x="7162800" y="4248150"/>
            <a:ext cx="4343400" cy="38100"/>
          </a:xfrm>
          <a:prstGeom prst="roundRect">
            <a:avLst/>
          </a:prstGeom>
          <a:solidFill>
            <a:srgbClr val="3E6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1" name="TextBox 24"/>
          <p:cNvSpPr txBox="true"/>
          <p:nvPr/>
        </p:nvSpPr>
        <p:spPr>
          <a:xfrm>
            <a:off x="7162800" y="4381500"/>
            <a:ext cx="43434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3E6E9E"/>
                </a:solidFill>
                <a:latin typeface="微软雅黑"/>
                <a:ea typeface="微软雅黑"/>
              </a:rPr>
              <a:t>③ 去重 = fan-in 语义</a:t>
            </a:r>
            <a:endParaRPr/>
          </a:p>
        </p:txBody>
      </p:sp>
      <p:sp>
        <p:nvSpPr>
          <p:cNvPr id="72" name="TextBox 25"/>
          <p:cNvSpPr txBox="true"/>
          <p:nvPr/>
        </p:nvSpPr>
        <p:spPr>
          <a:xfrm>
            <a:off x="7162800" y="4686300"/>
            <a:ext cx="43434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三个并行分支都指向 aggregator 时，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下一轮只调度一次。</a:t>
            </a:r>
            <a:endParaRPr/>
          </a:p>
          <a:p>
            <a:pPr algn="l">
              <a:lnSpc>
                <a:spcPct val="150000"/>
              </a:lnSpc>
            </a:pPr>
            <a:r>
              <a:rPr sz="1400" b="false">
                <a:solidFill>
                  <a:srgbClr val="1F2733"/>
                </a:solidFill>
                <a:latin typeface="微软雅黑"/>
                <a:ea typeface="微软雅黑"/>
              </a:rPr>
              <a:t>没有这行，汇合节点会被执行 3 次。</a:t>
            </a:r>
            <a:endParaRPr/>
          </a:p>
        </p:txBody>
      </p:sp>
      <p:sp>
        <p:nvSpPr>
          <p:cNvPr id="73" name="TextBox 26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6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77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L511-549</a:t>
            </a:r>
            <a:endParaRPr/>
          </a:p>
        </p:txBody>
      </p:sp>
      <p:sp>
        <p:nvSpPr>
          <p:cNvPr id="78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并行：不是「多线程跑循环」，是「同一步内并发」</a:t>
            </a:r>
            <a:endParaRPr/>
          </a:p>
        </p:txBody>
      </p:sp>
      <p:pic>
        <p:nvPicPr>
          <p:cNvPr id="79" name="Picture 5" descr="parallel_flat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447800"/>
            <a:ext cx="10287000" cy="3810000"/>
          </a:xfrm>
          <a:prstGeom prst="rect">
            <a:avLst/>
          </a:prstGeom>
        </p:spPr>
      </p:pic>
      <p:sp>
        <p:nvSpPr>
          <p:cNvPr id="80" name="TextBox 6"/>
          <p:cNvSpPr txBox="true"/>
          <p:nvPr/>
        </p:nvSpPr>
        <p:spPr>
          <a:xfrm>
            <a:off x="685800" y="5638800"/>
            <a:ext cx="108204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注意 _run_task L514-515：线程本地 slot/resume 必须显式注入——</a:t>
            </a:r>
            <a:endParaRPr/>
          </a:p>
          <a:p>
            <a:pPr algn="l">
              <a:lnSpc>
                <a:spcPct val="150000"/>
              </a:lnSpc>
            </a:pPr>
            <a:r>
              <a:rPr sz="1600" b="true">
                <a:solidFill>
                  <a:srgbClr val="1B2A41"/>
                </a:solidFill>
                <a:latin typeface="微软雅黑"/>
                <a:ea typeface="微软雅黑"/>
              </a:rPr>
              <a:t>threading.local 不会被线程池继承，这是并发代码里最容易踩的隐式依赖。</a:t>
            </a:r>
            <a:endParaRPr/>
          </a:p>
        </p:txBody>
      </p:sp>
      <p:sp>
        <p:nvSpPr>
          <p:cNvPr id="81" name="TextBox 7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84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85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L644-674</a:t>
            </a:r>
            <a:endParaRPr/>
          </a:p>
        </p:txBody>
      </p:sp>
      <p:sp>
        <p:nvSpPr>
          <p:cNvPr id="86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_merge_writes：22 行决定「并行写安不安全」</a:t>
            </a:r>
            <a:endParaRPr/>
          </a:p>
        </p:txBody>
      </p:sp>
      <p:pic>
        <p:nvPicPr>
          <p:cNvPr id="87" name="Picture 5" descr="merge_flat.pn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409700"/>
            <a:ext cx="10287000" cy="3619500"/>
          </a:xfrm>
          <a:prstGeom prst="rect">
            <a:avLst/>
          </a:prstGeom>
        </p:spPr>
      </p:pic>
      <p:sp>
        <p:nvSpPr>
          <p:cNvPr id="88" name="TextBox 6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14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91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92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L452-457 与 L469-482</a:t>
            </a:r>
            <a:endParaRPr/>
          </a:p>
        </p:txBody>
      </p:sp>
      <p:sp>
        <p:nvSpPr>
          <p:cNvPr id="93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挂起 = 整步作废：一行 continue 背后的原子性</a:t>
            </a:r>
            <a:endParaRPr/>
          </a:p>
        </p:txBody>
      </p:sp>
      <p:sp>
        <p:nvSpPr>
          <p:cNvPr id="94" name="Rectangle 5"/>
          <p:cNvSpPr/>
          <p:nvPr/>
        </p:nvSpPr>
        <p:spPr>
          <a:xfrm>
            <a:off x="685800" y="1485900"/>
            <a:ext cx="108204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95" name="TextBox 6"/>
          <p:cNvSpPr txBox="true"/>
          <p:nvPr/>
        </p:nvSpPr>
        <p:spPr>
          <a:xfrm>
            <a:off x="990600" y="1714500"/>
            <a:ext cx="571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true">
                <a:solidFill>
                  <a:srgbClr val="6B7A8C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96" name="TextBox 7"/>
          <p:cNvSpPr txBox="true"/>
          <p:nvPr/>
        </p:nvSpPr>
        <p:spPr>
          <a:xfrm>
            <a:off x="1638300" y="1638300"/>
            <a:ext cx="952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true">
                <a:solidFill>
                  <a:srgbClr val="1F2733"/>
                </a:solidFill>
                <a:latin typeface="微软雅黑"/>
                <a:ea typeface="微软雅黑"/>
              </a:rPr>
              <a:t>节点 A 干完活，节点 B 在同一步 interrupt()</a:t>
            </a:r>
            <a:endParaRPr/>
          </a:p>
        </p:txBody>
      </p:sp>
      <p:sp>
        <p:nvSpPr>
          <p:cNvPr id="97" name="TextBox 8"/>
          <p:cNvSpPr txBox="true"/>
          <p:nvPr/>
        </p:nvSpPr>
        <p:spPr>
          <a:xfrm>
            <a:off x="1638300" y="2038350"/>
            <a:ext cx="952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微软雅黑"/>
                <a:ea typeface="微软雅黑"/>
              </a:rPr>
              <a:t>A 的写入此刻还在 writes 列表里，没进 values</a:t>
            </a:r>
            <a:endParaRPr/>
          </a:p>
        </p:txBody>
      </p:sp>
      <p:sp>
        <p:nvSpPr>
          <p:cNvPr id="98" name="Rectangle 9"/>
          <p:cNvSpPr/>
          <p:nvPr/>
        </p:nvSpPr>
        <p:spPr>
          <a:xfrm>
            <a:off x="685800" y="2628900"/>
            <a:ext cx="10820400" cy="99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99" name="TextBox 10"/>
          <p:cNvSpPr txBox="true"/>
          <p:nvPr/>
        </p:nvSpPr>
        <p:spPr>
          <a:xfrm>
            <a:off x="990600" y="2857500"/>
            <a:ext cx="571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true">
                <a:solidFill>
                  <a:srgbClr val="B4441F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100" name="TextBox 11"/>
          <p:cNvSpPr txBox="true"/>
          <p:nvPr/>
        </p:nvSpPr>
        <p:spPr>
          <a:xfrm>
            <a:off x="1638300" y="2781300"/>
            <a:ext cx="952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true">
                <a:solidFill>
                  <a:srgbClr val="1F2733"/>
                </a:solidFill>
                <a:latin typeface="微软雅黑"/>
                <a:ea typeface="微软雅黑"/>
              </a:rPr>
              <a:t>L466: if writes and hit is None —— 条件不成立</a:t>
            </a:r>
            <a:endParaRPr/>
          </a:p>
        </p:txBody>
      </p:sp>
      <p:sp>
        <p:nvSpPr>
          <p:cNvPr id="101" name="TextBox 12"/>
          <p:cNvSpPr txBox="true"/>
          <p:nvPr/>
        </p:nvSpPr>
        <p:spPr>
          <a:xfrm>
            <a:off x="1638300" y="3181350"/>
            <a:ext cx="952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B4441F"/>
                </a:solidFill>
                <a:latin typeface="微软雅黑"/>
                <a:ea typeface="微软雅黑"/>
              </a:rPr>
              <a:t>合并被跳过，values 回到本步开始前的样子</a:t>
            </a:r>
            <a:endParaRPr/>
          </a:p>
        </p:txBody>
      </p:sp>
      <p:sp>
        <p:nvSpPr>
          <p:cNvPr id="102" name="Rectangle 13"/>
          <p:cNvSpPr/>
          <p:nvPr/>
        </p:nvSpPr>
        <p:spPr>
          <a:xfrm>
            <a:off x="685800" y="3771900"/>
            <a:ext cx="10820400" cy="99060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3" name="TextBox 14"/>
          <p:cNvSpPr txBox="true"/>
          <p:nvPr/>
        </p:nvSpPr>
        <p:spPr>
          <a:xfrm>
            <a:off x="990600" y="4000500"/>
            <a:ext cx="5715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true">
                <a:solidFill>
                  <a:srgbClr val="1B2A41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104" name="TextBox 15"/>
          <p:cNvSpPr txBox="true"/>
          <p:nvPr/>
        </p:nvSpPr>
        <p:spPr>
          <a:xfrm>
            <a:off x="1638300" y="3924300"/>
            <a:ext cx="9525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true">
                <a:solidFill>
                  <a:srgbClr val="1F2733"/>
                </a:solidFill>
                <a:latin typeface="微软雅黑"/>
                <a:ea typeface="微软雅黑"/>
              </a:rPr>
              <a:t>L473: tasks=list(batch) 整批存档</a:t>
            </a:r>
            <a:endParaRPr/>
          </a:p>
        </p:txBody>
      </p:sp>
      <p:sp>
        <p:nvSpPr>
          <p:cNvPr id="105" name="TextBox 16"/>
          <p:cNvSpPr txBox="true"/>
          <p:nvPr/>
        </p:nvSpPr>
        <p:spPr>
          <a:xfrm>
            <a:off x="1638300" y="4324350"/>
            <a:ext cx="9525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B2A41"/>
                </a:solidFill>
                <a:latin typeface="微软雅黑"/>
                <a:ea typeface="微软雅黑"/>
              </a:rPr>
              <a:t>恢复后 A、B 都重跑——所以节点必须幂等</a:t>
            </a:r>
            <a:endParaRPr/>
          </a:p>
        </p:txBody>
      </p:sp>
      <p:sp>
        <p:nvSpPr>
          <p:cNvPr id="106" name="Rectangle 17"/>
          <p:cNvSpPr/>
          <p:nvPr/>
        </p:nvSpPr>
        <p:spPr>
          <a:xfrm>
            <a:off x="685800" y="5029200"/>
            <a:ext cx="10820400" cy="9525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07" name="TextBox 18"/>
          <p:cNvSpPr txBox="true"/>
          <p:nvPr/>
        </p:nvSpPr>
        <p:spPr>
          <a:xfrm>
            <a:off x="952500" y="5219700"/>
            <a:ext cx="102870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600" b="false">
                <a:solidFill>
                  <a:srgbClr val="1F2733"/>
                </a:solidFill>
                <a:latin typeface="微软雅黑"/>
                <a:ea typeface="微软雅黑"/>
              </a:rPr>
              <a:t>反面教材：如果 A 的写入先入账，恢复重跑后 A 再干一遍，</a:t>
            </a:r>
            <a:endParaRPr/>
          </a:p>
          <a:p>
            <a:pPr algn="l">
              <a:lnSpc>
                <a:spcPct val="155000"/>
              </a:lnSpc>
            </a:pPr>
            <a:r>
              <a:rPr sz="1600" b="true">
                <a:solidFill>
                  <a:srgbClr val="B4441F"/>
                </a:solidFill>
                <a:latin typeface="微软雅黑"/>
                <a:ea typeface="微软雅黑"/>
              </a:rPr>
              <a:t>operator.add 字段就被累加两次——「丢钱 bug」。我实现时在这栽了三次，才换成整步作废。</a:t>
            </a:r>
            <a:endParaRPr/>
          </a:p>
        </p:txBody>
      </p:sp>
      <p:sp>
        <p:nvSpPr>
          <p:cNvPr id="108" name="TextBox 19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15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0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1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2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全文回顾</a:t>
            </a:r>
            <a:endParaRPr/>
          </a:p>
        </p:txBody>
      </p:sp>
      <p:sp>
        <p:nvSpPr>
          <p:cNvPr id="113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设计精髓：8 个能迁移到任何框架的取舍</a:t>
            </a:r>
            <a:endParaRPr/>
          </a:p>
        </p:txBody>
      </p:sp>
      <p:sp>
        <p:nvSpPr>
          <p:cNvPr id="114" name="Rectangle 5"/>
          <p:cNvSpPr/>
          <p:nvPr/>
        </p:nvSpPr>
        <p:spPr>
          <a:xfrm>
            <a:off x="685800" y="1409700"/>
            <a:ext cx="5295900" cy="895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5" name="TextBox 6"/>
          <p:cNvSpPr txBox="true"/>
          <p:nvPr/>
        </p:nvSpPr>
        <p:spPr>
          <a:xfrm>
            <a:off x="914400" y="154305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1B2A41"/>
                </a:solidFill>
                <a:latin typeface="微软雅黑"/>
                <a:ea typeface="微软雅黑"/>
              </a:rPr>
              <a:t>增量 &gt; 就地改</a:t>
            </a:r>
            <a:endParaRPr/>
          </a:p>
        </p:txBody>
      </p:sp>
      <p:sp>
        <p:nvSpPr>
          <p:cNvPr id="116" name="TextBox 7"/>
          <p:cNvSpPr txBox="true"/>
          <p:nvPr/>
        </p:nvSpPr>
        <p:spPr>
          <a:xfrm>
            <a:off x="914400" y="1905000"/>
            <a:ext cx="4191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可合并、可重放、可并行——副作用是三者的敌人</a:t>
            </a:r>
            <a:endParaRPr/>
          </a:p>
        </p:txBody>
      </p:sp>
      <p:sp>
        <p:nvSpPr>
          <p:cNvPr id="117" name="TextBox 8"/>
          <p:cNvSpPr txBox="true"/>
          <p:nvPr/>
        </p:nvSpPr>
        <p:spPr>
          <a:xfrm>
            <a:off x="4991100" y="1562100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false">
                <a:solidFill>
                  <a:srgbClr val="3E6E9E"/>
                </a:solidFill>
                <a:latin typeface="Consolas"/>
                <a:ea typeface="Consolas"/>
              </a:rPr>
              <a:t>L96-141</a:t>
            </a:r>
            <a:endParaRPr/>
          </a:p>
        </p:txBody>
      </p:sp>
      <p:sp>
        <p:nvSpPr>
          <p:cNvPr id="118" name="Rectangle 9"/>
          <p:cNvSpPr/>
          <p:nvPr/>
        </p:nvSpPr>
        <p:spPr>
          <a:xfrm>
            <a:off x="6210300" y="1409700"/>
            <a:ext cx="5295900" cy="89535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19" name="TextBox 10"/>
          <p:cNvSpPr txBox="true"/>
          <p:nvPr/>
        </p:nvSpPr>
        <p:spPr>
          <a:xfrm>
            <a:off x="6438900" y="154305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1B2A41"/>
                </a:solidFill>
                <a:latin typeface="微软雅黑"/>
                <a:ea typeface="微软雅黑"/>
              </a:rPr>
              <a:t>同步屏障 &gt; 自由并发</a:t>
            </a:r>
            <a:endParaRPr/>
          </a:p>
        </p:txBody>
      </p:sp>
      <p:sp>
        <p:nvSpPr>
          <p:cNvPr id="120" name="TextBox 11"/>
          <p:cNvSpPr txBox="true"/>
          <p:nvPr/>
        </p:nvSpPr>
        <p:spPr>
          <a:xfrm>
            <a:off x="6438900" y="1905000"/>
            <a:ext cx="4191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牺牲步间并行，换确定性：结果与调度顺序无关</a:t>
            </a:r>
            <a:endParaRPr/>
          </a:p>
        </p:txBody>
      </p:sp>
      <p:sp>
        <p:nvSpPr>
          <p:cNvPr id="121" name="TextBox 12"/>
          <p:cNvSpPr txBox="true"/>
          <p:nvPr/>
        </p:nvSpPr>
        <p:spPr>
          <a:xfrm>
            <a:off x="10515600" y="1562100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false">
                <a:solidFill>
                  <a:srgbClr val="3E6E9E"/>
                </a:solidFill>
                <a:latin typeface="Consolas"/>
                <a:ea typeface="Consolas"/>
              </a:rPr>
              <a:t>L430</a:t>
            </a:r>
            <a:endParaRPr/>
          </a:p>
        </p:txBody>
      </p:sp>
      <p:sp>
        <p:nvSpPr>
          <p:cNvPr id="122" name="Rectangle 13"/>
          <p:cNvSpPr/>
          <p:nvPr/>
        </p:nvSpPr>
        <p:spPr>
          <a:xfrm>
            <a:off x="685800" y="2438400"/>
            <a:ext cx="5295900" cy="89535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3" name="TextBox 14"/>
          <p:cNvSpPr txBox="true"/>
          <p:nvPr/>
        </p:nvSpPr>
        <p:spPr>
          <a:xfrm>
            <a:off x="914400" y="257175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1B2A41"/>
                </a:solidFill>
                <a:latin typeface="微软雅黑"/>
                <a:ea typeface="微软雅黑"/>
              </a:rPr>
              <a:t>报错 &gt; 静默兜底</a:t>
            </a:r>
            <a:endParaRPr/>
          </a:p>
        </p:txBody>
      </p:sp>
      <p:sp>
        <p:nvSpPr>
          <p:cNvPr id="124" name="TextBox 15"/>
          <p:cNvSpPr txBox="true"/>
          <p:nvPr/>
        </p:nvSpPr>
        <p:spPr>
          <a:xfrm>
            <a:off x="914400" y="2933700"/>
            <a:ext cx="4191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并发写无 reducer 字段直接炸，逼用户显式表态</a:t>
            </a:r>
            <a:endParaRPr/>
          </a:p>
        </p:txBody>
      </p:sp>
      <p:sp>
        <p:nvSpPr>
          <p:cNvPr id="125" name="TextBox 16"/>
          <p:cNvSpPr txBox="true"/>
          <p:nvPr/>
        </p:nvSpPr>
        <p:spPr>
          <a:xfrm>
            <a:off x="4991100" y="2590800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false">
                <a:solidFill>
                  <a:srgbClr val="3E6E9E"/>
                </a:solidFill>
                <a:latin typeface="Consolas"/>
                <a:ea typeface="Consolas"/>
              </a:rPr>
              <a:t>L662</a:t>
            </a:r>
            <a:endParaRPr/>
          </a:p>
        </p:txBody>
      </p:sp>
      <p:sp>
        <p:nvSpPr>
          <p:cNvPr id="126" name="Rectangle 17"/>
          <p:cNvSpPr/>
          <p:nvPr/>
        </p:nvSpPr>
        <p:spPr>
          <a:xfrm>
            <a:off x="6210300" y="2438400"/>
            <a:ext cx="5295900" cy="895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27" name="TextBox 18"/>
          <p:cNvSpPr txBox="true"/>
          <p:nvPr/>
        </p:nvSpPr>
        <p:spPr>
          <a:xfrm>
            <a:off x="6438900" y="257175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1B2A41"/>
                </a:solidFill>
                <a:latin typeface="微软雅黑"/>
                <a:ea typeface="微软雅黑"/>
              </a:rPr>
              <a:t>错误左移</a:t>
            </a:r>
            <a:endParaRPr/>
          </a:p>
        </p:txBody>
      </p:sp>
      <p:sp>
        <p:nvSpPr>
          <p:cNvPr id="128" name="TextBox 19"/>
          <p:cNvSpPr txBox="true"/>
          <p:nvPr/>
        </p:nvSpPr>
        <p:spPr>
          <a:xfrm>
            <a:off x="6438900" y="2933700"/>
            <a:ext cx="4191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build 阶段校验，把运行时事故挡在编译期</a:t>
            </a:r>
            <a:endParaRPr/>
          </a:p>
        </p:txBody>
      </p:sp>
      <p:sp>
        <p:nvSpPr>
          <p:cNvPr id="129" name="TextBox 20"/>
          <p:cNvSpPr txBox="true"/>
          <p:nvPr/>
        </p:nvSpPr>
        <p:spPr>
          <a:xfrm>
            <a:off x="10515600" y="2590800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false">
                <a:solidFill>
                  <a:srgbClr val="3E6E9E"/>
                </a:solidFill>
                <a:latin typeface="Consolas"/>
                <a:ea typeface="Consolas"/>
              </a:rPr>
              <a:t>L309</a:t>
            </a:r>
            <a:endParaRPr/>
          </a:p>
        </p:txBody>
      </p:sp>
      <p:sp>
        <p:nvSpPr>
          <p:cNvPr id="130" name="Rectangle 21"/>
          <p:cNvSpPr/>
          <p:nvPr/>
        </p:nvSpPr>
        <p:spPr>
          <a:xfrm>
            <a:off x="685800" y="3467100"/>
            <a:ext cx="5295900" cy="89535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1" name="TextBox 22"/>
          <p:cNvSpPr txBox="true"/>
          <p:nvPr/>
        </p:nvSpPr>
        <p:spPr>
          <a:xfrm>
            <a:off x="914400" y="360045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1B2A41"/>
                </a:solidFill>
                <a:latin typeface="微软雅黑"/>
                <a:ea typeface="微软雅黑"/>
              </a:rPr>
              <a:t>异常做控制流</a:t>
            </a:r>
            <a:endParaRPr/>
          </a:p>
        </p:txBody>
      </p:sp>
      <p:sp>
        <p:nvSpPr>
          <p:cNvPr id="132" name="TextBox 23"/>
          <p:cNvSpPr txBox="true"/>
          <p:nvPr/>
        </p:nvSpPr>
        <p:spPr>
          <a:xfrm>
            <a:off x="914400" y="3962400"/>
            <a:ext cx="4191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interrupt 用 raise 冻结，10 行换全图暂停能力</a:t>
            </a:r>
            <a:endParaRPr/>
          </a:p>
        </p:txBody>
      </p:sp>
      <p:sp>
        <p:nvSpPr>
          <p:cNvPr id="133" name="TextBox 24"/>
          <p:cNvSpPr txBox="true"/>
          <p:nvPr/>
        </p:nvSpPr>
        <p:spPr>
          <a:xfrm>
            <a:off x="4991100" y="3619500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false">
                <a:solidFill>
                  <a:srgbClr val="3E6E9E"/>
                </a:solidFill>
                <a:latin typeface="Consolas"/>
                <a:ea typeface="Consolas"/>
              </a:rPr>
              <a:t>L172</a:t>
            </a:r>
            <a:endParaRPr/>
          </a:p>
        </p:txBody>
      </p:sp>
      <p:sp>
        <p:nvSpPr>
          <p:cNvPr id="134" name="Rectangle 25"/>
          <p:cNvSpPr/>
          <p:nvPr/>
        </p:nvSpPr>
        <p:spPr>
          <a:xfrm>
            <a:off x="6210300" y="3467100"/>
            <a:ext cx="5295900" cy="89535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5" name="TextBox 26"/>
          <p:cNvSpPr txBox="true"/>
          <p:nvPr/>
        </p:nvSpPr>
        <p:spPr>
          <a:xfrm>
            <a:off x="6438900" y="360045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1B2A41"/>
                </a:solidFill>
                <a:latin typeface="微软雅黑"/>
                <a:ea typeface="微软雅黑"/>
              </a:rPr>
              <a:t>快照 &gt; 锁</a:t>
            </a:r>
            <a:endParaRPr/>
          </a:p>
        </p:txBody>
      </p:sp>
      <p:sp>
        <p:nvSpPr>
          <p:cNvPr id="136" name="TextBox 27"/>
          <p:cNvSpPr txBox="true"/>
          <p:nvPr/>
        </p:nvSpPr>
        <p:spPr>
          <a:xfrm>
            <a:off x="6438900" y="3962400"/>
            <a:ext cx="4191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不加锁，每人一份只读副本，天然无竞态</a:t>
            </a:r>
            <a:endParaRPr/>
          </a:p>
        </p:txBody>
      </p:sp>
      <p:sp>
        <p:nvSpPr>
          <p:cNvPr id="137" name="TextBox 28"/>
          <p:cNvSpPr txBox="true"/>
          <p:nvPr/>
        </p:nvSpPr>
        <p:spPr>
          <a:xfrm>
            <a:off x="10515600" y="3619500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false">
                <a:solidFill>
                  <a:srgbClr val="3E6E9E"/>
                </a:solidFill>
                <a:latin typeface="Consolas"/>
                <a:ea typeface="Consolas"/>
              </a:rPr>
              <a:t>L430</a:t>
            </a:r>
            <a:endParaRPr/>
          </a:p>
        </p:txBody>
      </p:sp>
      <p:sp>
        <p:nvSpPr>
          <p:cNvPr id="138" name="Rectangle 29"/>
          <p:cNvSpPr/>
          <p:nvPr/>
        </p:nvSpPr>
        <p:spPr>
          <a:xfrm>
            <a:off x="685800" y="4495800"/>
            <a:ext cx="5295900" cy="89535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39" name="TextBox 30"/>
          <p:cNvSpPr txBox="true"/>
          <p:nvPr/>
        </p:nvSpPr>
        <p:spPr>
          <a:xfrm>
            <a:off x="914400" y="462915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1B2A41"/>
                </a:solidFill>
                <a:latin typeface="微软雅黑"/>
                <a:ea typeface="微软雅黑"/>
              </a:rPr>
              <a:t>超步级存档</a:t>
            </a:r>
            <a:endParaRPr/>
          </a:p>
        </p:txBody>
      </p:sp>
      <p:sp>
        <p:nvSpPr>
          <p:cNvPr id="140" name="TextBox 31"/>
          <p:cNvSpPr txBox="true"/>
          <p:nvPr/>
        </p:nvSpPr>
        <p:spPr>
          <a:xfrm>
            <a:off x="914400" y="4991100"/>
            <a:ext cx="4191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重跑单位是轮不是节点——简单，但要求幂等</a:t>
            </a:r>
            <a:endParaRPr/>
          </a:p>
        </p:txBody>
      </p:sp>
      <p:sp>
        <p:nvSpPr>
          <p:cNvPr id="141" name="TextBox 32"/>
          <p:cNvSpPr txBox="true"/>
          <p:nvPr/>
        </p:nvSpPr>
        <p:spPr>
          <a:xfrm>
            <a:off x="4991100" y="4648200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false">
                <a:solidFill>
                  <a:srgbClr val="3E6E9E"/>
                </a:solidFill>
                <a:latin typeface="Consolas"/>
                <a:ea typeface="Consolas"/>
              </a:rPr>
              <a:t>L473</a:t>
            </a:r>
            <a:endParaRPr/>
          </a:p>
        </p:txBody>
      </p:sp>
      <p:sp>
        <p:nvSpPr>
          <p:cNvPr id="142" name="Rectangle 33"/>
          <p:cNvSpPr/>
          <p:nvPr/>
        </p:nvSpPr>
        <p:spPr>
          <a:xfrm>
            <a:off x="6210300" y="4495800"/>
            <a:ext cx="5295900" cy="895350"/>
          </a:xfrm>
          <a:prstGeom prst="rect">
            <a:avLst/>
          </a:prstGeom>
          <a:solidFill>
            <a:srgbClr val="F4F7FA"/>
          </a:solidFill>
          <a:ln w="12700">
            <a:solidFill>
              <a:srgbClr val="D9E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43" name="TextBox 34"/>
          <p:cNvSpPr txBox="true"/>
          <p:nvPr/>
        </p:nvSpPr>
        <p:spPr>
          <a:xfrm>
            <a:off x="6438900" y="4629150"/>
            <a:ext cx="4191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true">
                <a:solidFill>
                  <a:srgbClr val="1B2A41"/>
                </a:solidFill>
                <a:latin typeface="微软雅黑"/>
                <a:ea typeface="微软雅黑"/>
              </a:rPr>
              <a:t>字典即接口</a:t>
            </a:r>
            <a:endParaRPr/>
          </a:p>
        </p:txBody>
      </p:sp>
      <p:sp>
        <p:nvSpPr>
          <p:cNvPr id="144" name="TextBox 35"/>
          <p:cNvSpPr txBox="true"/>
          <p:nvPr/>
        </p:nvSpPr>
        <p:spPr>
          <a:xfrm>
            <a:off x="6438900" y="4991100"/>
            <a:ext cx="4191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Saver 的 put/get/list，换 Postgres 不动执行层</a:t>
            </a:r>
            <a:endParaRPr/>
          </a:p>
        </p:txBody>
      </p:sp>
      <p:sp>
        <p:nvSpPr>
          <p:cNvPr id="145" name="TextBox 36"/>
          <p:cNvSpPr txBox="true"/>
          <p:nvPr/>
        </p:nvSpPr>
        <p:spPr>
          <a:xfrm>
            <a:off x="10515600" y="4648200"/>
            <a:ext cx="8572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200" b="false">
                <a:solidFill>
                  <a:srgbClr val="3E6E9E"/>
                </a:solidFill>
                <a:latin typeface="Consolas"/>
                <a:ea typeface="Consolas"/>
              </a:rPr>
              <a:t>L212</a:t>
            </a:r>
            <a:endParaRPr/>
          </a:p>
        </p:txBody>
      </p:sp>
      <p:sp>
        <p:nvSpPr>
          <p:cNvPr id="146" name="TextBox 37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16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D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49" name="Rounded Rectangle 2"/>
          <p:cNvSpPr/>
          <p:nvPr/>
        </p:nvSpPr>
        <p:spPr>
          <a:xfrm>
            <a:off x="685800" y="381000"/>
            <a:ext cx="38100" cy="247650"/>
          </a:xfrm>
          <a:prstGeom prst="round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50" name="TextBox 3"/>
          <p:cNvSpPr txBox="true"/>
          <p:nvPr/>
        </p:nvSpPr>
        <p:spPr>
          <a:xfrm>
            <a:off x="838200" y="381000"/>
            <a:ext cx="66675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6B7A8C"/>
                </a:solidFill>
                <a:latin typeface="Consolas"/>
                <a:ea typeface="Consolas"/>
              </a:rPr>
              <a:t>graph.py · 动手环节</a:t>
            </a:r>
            <a:endParaRPr/>
          </a:p>
        </p:txBody>
      </p:sp>
      <p:sp>
        <p:nvSpPr>
          <p:cNvPr id="151" name="TextBox 4"/>
          <p:cNvSpPr txBox="true"/>
          <p:nvPr/>
        </p:nvSpPr>
        <p:spPr>
          <a:xfrm>
            <a:off x="685800" y="704850"/>
            <a:ext cx="10820400" cy="438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true">
                <a:solidFill>
                  <a:srgbClr val="1B2A41"/>
                </a:solidFill>
                <a:latin typeface="微软雅黑"/>
                <a:ea typeface="微软雅黑"/>
              </a:rPr>
              <a:t>带走 6 条，再改 3 处验证你懂了</a:t>
            </a:r>
            <a:endParaRPr/>
          </a:p>
        </p:txBody>
      </p:sp>
      <p:sp>
        <p:nvSpPr>
          <p:cNvPr id="152" name="TextBox 5"/>
          <p:cNvSpPr txBox="true"/>
          <p:nvPr/>
        </p:nvSpPr>
        <p:spPr>
          <a:xfrm>
            <a:off x="685800" y="1333500"/>
            <a:ext cx="51435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true">
                <a:solidFill>
                  <a:srgbClr val="1B2A41"/>
                </a:solidFill>
                <a:latin typeface="微软雅黑"/>
                <a:ea typeface="微软雅黑"/>
              </a:rPr>
              <a:t>六条结论</a:t>
            </a:r>
            <a:endParaRPr/>
          </a:p>
        </p:txBody>
      </p:sp>
      <p:sp>
        <p:nvSpPr>
          <p:cNvPr id="153" name="TextBox 6"/>
          <p:cNvSpPr txBox="true"/>
          <p:nvPr/>
        </p:nvSpPr>
        <p:spPr>
          <a:xfrm>
            <a:off x="685800" y="1752600"/>
            <a:ext cx="285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true">
                <a:solidFill>
                  <a:srgbClr val="E8A33D"/>
                </a:solidFill>
                <a:latin typeface="Consolas"/>
                <a:ea typeface="Consolas"/>
              </a:rPr>
              <a:t>1</a:t>
            </a:r>
            <a:endParaRPr/>
          </a:p>
        </p:txBody>
      </p:sp>
      <p:sp>
        <p:nvSpPr>
          <p:cNvPr id="154" name="TextBox 7"/>
          <p:cNvSpPr txBox="true"/>
          <p:nvPr/>
        </p:nvSpPr>
        <p:spPr>
          <a:xfrm>
            <a:off x="1009650" y="1752600"/>
            <a:ext cx="476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整个框架 = 一张 {字段: reducer} 表 + 一个 while 循环</a:t>
            </a:r>
            <a:endParaRPr/>
          </a:p>
        </p:txBody>
      </p:sp>
      <p:sp>
        <p:nvSpPr>
          <p:cNvPr id="155" name="TextBox 8"/>
          <p:cNvSpPr txBox="true"/>
          <p:nvPr/>
        </p:nvSpPr>
        <p:spPr>
          <a:xfrm>
            <a:off x="685800" y="2190750"/>
            <a:ext cx="285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true">
                <a:solidFill>
                  <a:srgbClr val="E8A33D"/>
                </a:solidFill>
                <a:latin typeface="Consolas"/>
                <a:ea typeface="Consolas"/>
              </a:rPr>
              <a:t>2</a:t>
            </a:r>
            <a:endParaRPr/>
          </a:p>
        </p:txBody>
      </p:sp>
      <p:sp>
        <p:nvSpPr>
          <p:cNvPr id="156" name="TextBox 9"/>
          <p:cNvSpPr txBox="true"/>
          <p:nvPr/>
        </p:nvSpPr>
        <p:spPr>
          <a:xfrm>
            <a:off x="1009650" y="2190750"/>
            <a:ext cx="476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并行只在步内；确定性靠 snapshot，不靠锁</a:t>
            </a:r>
            <a:endParaRPr/>
          </a:p>
        </p:txBody>
      </p:sp>
      <p:sp>
        <p:nvSpPr>
          <p:cNvPr id="157" name="TextBox 10"/>
          <p:cNvSpPr txBox="true"/>
          <p:nvPr/>
        </p:nvSpPr>
        <p:spPr>
          <a:xfrm>
            <a:off x="685800" y="2628900"/>
            <a:ext cx="285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true">
                <a:solidFill>
                  <a:srgbClr val="E8A33D"/>
                </a:solidFill>
                <a:latin typeface="Consolas"/>
                <a:ea typeface="Consolas"/>
              </a:rPr>
              <a:t>3</a:t>
            </a:r>
            <a:endParaRPr/>
          </a:p>
        </p:txBody>
      </p:sp>
      <p:sp>
        <p:nvSpPr>
          <p:cNvPr id="158" name="TextBox 11"/>
          <p:cNvSpPr txBox="true"/>
          <p:nvPr/>
        </p:nvSpPr>
        <p:spPr>
          <a:xfrm>
            <a:off x="1009650" y="2628900"/>
            <a:ext cx="476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路由的三种形态最后都化成同一个 tasks 列表</a:t>
            </a:r>
            <a:endParaRPr/>
          </a:p>
        </p:txBody>
      </p:sp>
      <p:sp>
        <p:nvSpPr>
          <p:cNvPr id="159" name="TextBox 12"/>
          <p:cNvSpPr txBox="true"/>
          <p:nvPr/>
        </p:nvSpPr>
        <p:spPr>
          <a:xfrm>
            <a:off x="685800" y="3067050"/>
            <a:ext cx="285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true">
                <a:solidFill>
                  <a:srgbClr val="E8A33D"/>
                </a:solidFill>
                <a:latin typeface="Consolas"/>
                <a:ea typeface="Consolas"/>
              </a:rPr>
              <a:t>4</a:t>
            </a:r>
            <a:endParaRPr/>
          </a:p>
        </p:txBody>
      </p:sp>
      <p:sp>
        <p:nvSpPr>
          <p:cNvPr id="160" name="TextBox 13"/>
          <p:cNvSpPr txBox="true"/>
          <p:nvPr/>
        </p:nvSpPr>
        <p:spPr>
          <a:xfrm>
            <a:off x="1009650" y="3067050"/>
            <a:ext cx="476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interrupt 的难点在恢复槽位，不在抛异常</a:t>
            </a:r>
            <a:endParaRPr/>
          </a:p>
        </p:txBody>
      </p:sp>
      <p:sp>
        <p:nvSpPr>
          <p:cNvPr id="161" name="TextBox 14"/>
          <p:cNvSpPr txBox="true"/>
          <p:nvPr/>
        </p:nvSpPr>
        <p:spPr>
          <a:xfrm>
            <a:off x="685800" y="3505200"/>
            <a:ext cx="285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true">
                <a:solidFill>
                  <a:srgbClr val="E8A33D"/>
                </a:solidFill>
                <a:latin typeface="Consolas"/>
                <a:ea typeface="Consolas"/>
              </a:rPr>
              <a:t>5</a:t>
            </a:r>
            <a:endParaRPr/>
          </a:p>
        </p:txBody>
      </p:sp>
      <p:sp>
        <p:nvSpPr>
          <p:cNvPr id="162" name="TextBox 15"/>
          <p:cNvSpPr txBox="true"/>
          <p:nvPr/>
        </p:nvSpPr>
        <p:spPr>
          <a:xfrm>
            <a:off x="1009650" y="3505200"/>
            <a:ext cx="476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checkpoint 按轮存，节点因此必须幂等</a:t>
            </a:r>
            <a:endParaRPr/>
          </a:p>
        </p:txBody>
      </p:sp>
      <p:sp>
        <p:nvSpPr>
          <p:cNvPr id="163" name="TextBox 16"/>
          <p:cNvSpPr txBox="true"/>
          <p:nvPr/>
        </p:nvSpPr>
        <p:spPr>
          <a:xfrm>
            <a:off x="685800" y="3943350"/>
            <a:ext cx="2857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true">
                <a:solidFill>
                  <a:srgbClr val="E8A33D"/>
                </a:solidFill>
                <a:latin typeface="Consolas"/>
                <a:ea typeface="Consolas"/>
              </a:rPr>
              <a:t>6</a:t>
            </a:r>
            <a:endParaRPr/>
          </a:p>
        </p:txBody>
      </p:sp>
      <p:sp>
        <p:nvSpPr>
          <p:cNvPr id="164" name="TextBox 17"/>
          <p:cNvSpPr txBox="true"/>
          <p:nvPr/>
        </p:nvSpPr>
        <p:spPr>
          <a:xfrm>
            <a:off x="1009650" y="3943350"/>
            <a:ext cx="476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校验代码占一半篇幅——框架的易用性是查出来的</a:t>
            </a:r>
            <a:endParaRPr/>
          </a:p>
        </p:txBody>
      </p:sp>
      <p:sp>
        <p:nvSpPr>
          <p:cNvPr id="165" name="TextBox 18"/>
          <p:cNvSpPr txBox="true"/>
          <p:nvPr/>
        </p:nvSpPr>
        <p:spPr>
          <a:xfrm>
            <a:off x="6286500" y="1333500"/>
            <a:ext cx="52197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true">
                <a:solidFill>
                  <a:srgbClr val="1B2A41"/>
                </a:solidFill>
                <a:latin typeface="微软雅黑"/>
                <a:ea typeface="微软雅黑"/>
              </a:rPr>
              <a:t>三个练手任务（各约 10 行改动）</a:t>
            </a:r>
            <a:endParaRPr/>
          </a:p>
        </p:txBody>
      </p:sp>
      <p:sp>
        <p:nvSpPr>
          <p:cNvPr id="166" name="Rectangle 19"/>
          <p:cNvSpPr/>
          <p:nvPr/>
        </p:nvSpPr>
        <p:spPr>
          <a:xfrm>
            <a:off x="6286500" y="1752600"/>
            <a:ext cx="5219700" cy="8001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67" name="TextBox 20"/>
          <p:cNvSpPr txBox="true"/>
          <p:nvPr/>
        </p:nvSpPr>
        <p:spPr>
          <a:xfrm>
            <a:off x="6553200" y="1885950"/>
            <a:ext cx="4667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true">
                <a:solidFill>
                  <a:srgbClr val="1B2A41"/>
                </a:solidFill>
                <a:latin typeface="Consolas"/>
                <a:ea typeface="Consolas"/>
              </a:rPr>
              <a:t>给 Checkpoint 加 created_at</a:t>
            </a:r>
            <a:endParaRPr/>
          </a:p>
        </p:txBody>
      </p:sp>
      <p:sp>
        <p:nvSpPr>
          <p:cNvPr id="168" name="TextBox 21"/>
          <p:cNvSpPr txBox="true"/>
          <p:nvPr/>
        </p:nvSpPr>
        <p:spPr>
          <a:xfrm>
            <a:off x="6553200" y="2190750"/>
            <a:ext cx="4667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体会存档结构演进要动哪几处</a:t>
            </a:r>
            <a:endParaRPr/>
          </a:p>
        </p:txBody>
      </p:sp>
      <p:sp>
        <p:nvSpPr>
          <p:cNvPr id="169" name="Rectangle 22"/>
          <p:cNvSpPr/>
          <p:nvPr/>
        </p:nvSpPr>
        <p:spPr>
          <a:xfrm>
            <a:off x="6286500" y="2705100"/>
            <a:ext cx="5219700" cy="8001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70" name="TextBox 23"/>
          <p:cNvSpPr txBox="true"/>
          <p:nvPr/>
        </p:nvSpPr>
        <p:spPr>
          <a:xfrm>
            <a:off x="6553200" y="2838450"/>
            <a:ext cx="4667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true">
                <a:solidFill>
                  <a:srgbClr val="1B2A41"/>
                </a:solidFill>
                <a:latin typeface="Consolas"/>
                <a:ea typeface="Consolas"/>
              </a:rPr>
              <a:t>让 _dedupe_tasks 保留最后而非首个</a:t>
            </a:r>
            <a:endParaRPr/>
          </a:p>
        </p:txBody>
      </p:sp>
      <p:sp>
        <p:nvSpPr>
          <p:cNvPr id="171" name="TextBox 24"/>
          <p:cNvSpPr txBox="true"/>
          <p:nvPr/>
        </p:nvSpPr>
        <p:spPr>
          <a:xfrm>
            <a:off x="6553200" y="3143250"/>
            <a:ext cx="4667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观察 fan-in 语义变化 + 哪个测试会红</a:t>
            </a:r>
            <a:endParaRPr/>
          </a:p>
        </p:txBody>
      </p:sp>
      <p:sp>
        <p:nvSpPr>
          <p:cNvPr id="172" name="Rectangle 25"/>
          <p:cNvSpPr/>
          <p:nvPr/>
        </p:nvSpPr>
        <p:spPr>
          <a:xfrm>
            <a:off x="6286500" y="3657600"/>
            <a:ext cx="5219700" cy="800100"/>
          </a:xfrm>
          <a:prstGeom prst="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false" anchor="ctr"/>
          <a:lstStyle/>
          <a:p>
            <a:pPr algn="ctr"/>
            <a:endParaRPr/>
          </a:p>
        </p:txBody>
      </p:sp>
      <p:sp>
        <p:nvSpPr>
          <p:cNvPr id="173" name="TextBox 26"/>
          <p:cNvSpPr txBox="true"/>
          <p:nvPr/>
        </p:nvSpPr>
        <p:spPr>
          <a:xfrm>
            <a:off x="6553200" y="3790950"/>
            <a:ext cx="4667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true">
                <a:solidFill>
                  <a:srgbClr val="1B2A41"/>
                </a:solidFill>
                <a:latin typeface="Consolas"/>
                <a:ea typeface="Consolas"/>
              </a:rPr>
              <a:t>给 InMemorySaver 加 max_history</a:t>
            </a:r>
            <a:endParaRPr/>
          </a:p>
        </p:txBody>
      </p:sp>
      <p:sp>
        <p:nvSpPr>
          <p:cNvPr id="174" name="TextBox 27"/>
          <p:cNvSpPr txBox="true"/>
          <p:nvPr/>
        </p:nvSpPr>
        <p:spPr>
          <a:xfrm>
            <a:off x="6553200" y="4095750"/>
            <a:ext cx="46672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false">
                <a:solidFill>
                  <a:srgbClr val="6B7A8C"/>
                </a:solidFill>
                <a:latin typeface="微软雅黑"/>
                <a:ea typeface="微软雅黑"/>
              </a:rPr>
              <a:t>理解 get/checkpoint_id 的时间旅行怎么依赖全量历史</a:t>
            </a:r>
            <a:endParaRPr/>
          </a:p>
        </p:txBody>
      </p:sp>
      <p:sp>
        <p:nvSpPr>
          <p:cNvPr id="175" name="TextBox 28"/>
          <p:cNvSpPr txBox="true"/>
          <p:nvPr/>
        </p:nvSpPr>
        <p:spPr>
          <a:xfrm>
            <a:off x="6286500" y="4724400"/>
            <a:ext cx="5219700" cy="95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400" b="false">
                <a:solidFill>
                  <a:srgbClr val="1B2A41"/>
                </a:solidFill>
                <a:latin typeface="Consolas"/>
                <a:ea typeface="Consolas"/>
              </a:rPr>
              <a:t>改完跑：PYTHONPATH=. python3 -m pytest -q</a:t>
            </a:r>
            <a:endParaRPr/>
          </a:p>
          <a:p>
            <a:pPr algn="l">
              <a:lnSpc>
                <a:spcPct val="16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17 个测试就是这份代码的「合同」——</a:t>
            </a:r>
            <a:endParaRPr/>
          </a:p>
          <a:p>
            <a:pPr algn="l">
              <a:lnSpc>
                <a:spcPct val="160000"/>
              </a:lnSpc>
            </a:pPr>
            <a:r>
              <a:rPr sz="1500" b="false">
                <a:solidFill>
                  <a:srgbClr val="1F2733"/>
                </a:solidFill>
                <a:latin typeface="微软雅黑"/>
                <a:ea typeface="微软雅黑"/>
              </a:rPr>
              <a:t>你的改动让哪条红了，就说明动了哪条语义。</a:t>
            </a:r>
            <a:endParaRPr/>
          </a:p>
        </p:txBody>
      </p:sp>
      <p:sp>
        <p:nvSpPr>
          <p:cNvPr id="176" name="TextBox 29"/>
          <p:cNvSpPr txBox="true"/>
          <p:nvPr/>
        </p:nvSpPr>
        <p:spPr>
          <a:xfrm>
            <a:off x="11334750" y="6515100"/>
            <a:ext cx="5715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40000"/>
              </a:lnSpc>
            </a:pPr>
            <a:r>
              <a:rPr sz="1400" b="false">
                <a:solidFill>
                  <a:srgbClr val="6B7A8C"/>
                </a:solidFill>
                <a:latin typeface="Consolas"/>
                <a:ea typeface="Consolas"/>
              </a:rPr>
              <a:t>17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2026-10-20T13:21:57Z</dcterms:created>
  <dcterms:modified xsi:type="dcterms:W3CDTF">2026-10-20T13:21:57Z</dcterms:modified>
</cp:coreProperties>
</file>